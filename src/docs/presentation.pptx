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7" r:id="rId5"/>
    <p:sldId id="258" r:id="rId6"/>
    <p:sldId id="262" r:id="rId7"/>
    <p:sldId id="256" r:id="rId8"/>
    <p:sldId id="263" r:id="rId9"/>
    <p:sldId id="264"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5FB"/>
    <a:srgbClr val="FEFAF8"/>
    <a:srgbClr val="F2F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553845-CBD8-4382-85B8-5D0AF2EE4D06}" v="17" dt="2025-02-24T11:02:28.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44" autoAdjust="0"/>
    <p:restoredTop sz="94660"/>
  </p:normalViewPr>
  <p:slideViewPr>
    <p:cSldViewPr snapToGrid="0" showGuides="1">
      <p:cViewPr varScale="1">
        <p:scale>
          <a:sx n="61" d="100"/>
          <a:sy n="61" d="100"/>
        </p:scale>
        <p:origin x="1362" y="66"/>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86D94-BC2E-4CEB-8A22-76239CC884AC}" type="datetimeFigureOut">
              <a:rPr lang="en-IN" smtClean="0"/>
              <a:t>25-02-2025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3084-43D0-4C78-A868-4CB6CE8D1C5F}" type="slidenum">
              <a:rPr lang="en-IN" smtClean="0"/>
              <a:t>‹#›</a:t>
            </a:fld>
            <a:endParaRPr lang="en-IN" dirty="0"/>
          </a:p>
        </p:txBody>
      </p:sp>
    </p:spTree>
    <p:extLst>
      <p:ext uri="{BB962C8B-B14F-4D97-AF65-F5344CB8AC3E}">
        <p14:creationId xmlns:p14="http://schemas.microsoft.com/office/powerpoint/2010/main" val="2957919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13084-43D0-4C78-A868-4CB6CE8D1C5F}" type="slidenum">
              <a:rPr lang="en-IN" smtClean="0"/>
              <a:t>1</a:t>
            </a:fld>
            <a:endParaRPr lang="en-IN" dirty="0"/>
          </a:p>
        </p:txBody>
      </p:sp>
    </p:spTree>
    <p:extLst>
      <p:ext uri="{BB962C8B-B14F-4D97-AF65-F5344CB8AC3E}">
        <p14:creationId xmlns:p14="http://schemas.microsoft.com/office/powerpoint/2010/main" val="319158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6098-0C8D-7FCD-9A1D-10FB5BC5A5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F1FBD5-1451-F8EB-C660-82502CC0E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D6274B-82D5-B4E3-7976-4C05788A81E1}"/>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4D760DD9-E44B-FD7C-89A6-14A03473C86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1ADA14C-592E-A903-0F34-6F7F760E477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32089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F29C-9F43-5FC5-ABA3-6AE71192AB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8407AC-837A-6F30-B5D2-865ABF1C81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C83710-D0C5-A105-4188-7E620009FD30}"/>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E5712340-EA02-D0EA-C5F5-09176EBCA39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C385AEC-CC32-961B-58F1-F7542BE580E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396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25DD-BF4F-69EE-2FB3-211B6357B1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6D58FE-6F8A-B2EB-315B-E9F75F6137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CFC25B-72CC-73A6-EEA2-22B021195B2B}"/>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E094E161-24E6-2276-1725-1D420868A82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340AE2E-12DA-4392-6E04-87C5AAF356A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8105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676B-8A4B-3E57-1345-7C30E535EB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ACC23-0458-D231-AD4C-1AD1D9BAEA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DC1D20-E85D-81D0-A5AB-747FB4CE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AE75C7-E259-FEC8-F820-C036368D2BC1}"/>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6" name="Footer Placeholder 5">
            <a:extLst>
              <a:ext uri="{FF2B5EF4-FFF2-40B4-BE49-F238E27FC236}">
                <a16:creationId xmlns:a16="http://schemas.microsoft.com/office/drawing/2014/main" id="{EDB9AA6E-3223-B4F5-DF75-2D2D123218A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F2C7CBD-1AB6-4BF7-830C-8189FE46ED8C}"/>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0776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0C1D-60C4-1DCD-C85A-7311D6B36C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7AE925-43E4-4EFB-7BE1-40494B6E3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0808E3-025D-C7B2-060B-4A2923D38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384597-B9B7-0E46-E7C9-9ED794ECC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1A0642-36A8-20F4-DB6C-1B4987CC1B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7A6876-8038-DFE9-98A6-89D88D8F0C19}"/>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8" name="Footer Placeholder 7">
            <a:extLst>
              <a:ext uri="{FF2B5EF4-FFF2-40B4-BE49-F238E27FC236}">
                <a16:creationId xmlns:a16="http://schemas.microsoft.com/office/drawing/2014/main" id="{6CC0C7B6-DDA2-8C1B-E5F0-0478B061C568}"/>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7D51045-4646-1565-2A5C-02755A1B355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54816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C7C3B-37F8-55B3-D521-DDD832B6C1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D08F7E-DC13-38A3-31C3-094B4F313CA8}"/>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4" name="Footer Placeholder 3">
            <a:extLst>
              <a:ext uri="{FF2B5EF4-FFF2-40B4-BE49-F238E27FC236}">
                <a16:creationId xmlns:a16="http://schemas.microsoft.com/office/drawing/2014/main" id="{0AF57D02-E479-EA0B-88B7-0A41662B09B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6CD8936-19B6-FFE3-C757-C2165AA6A25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68289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2093A-0E6F-B363-F6EB-A7D738414F95}"/>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3" name="Footer Placeholder 2">
            <a:extLst>
              <a:ext uri="{FF2B5EF4-FFF2-40B4-BE49-F238E27FC236}">
                <a16:creationId xmlns:a16="http://schemas.microsoft.com/office/drawing/2014/main" id="{A25F9F11-0FE2-0400-7693-7F47C583D01B}"/>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9F6AF130-4EAB-D9EB-AF9E-037A8F1D7E6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6889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2DB9-AE61-C432-C419-209516368F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33DD94-F9DC-B274-7B06-232424FF7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7EB25F-E701-75E8-F551-7BB7ACA2F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9834B-E674-3BD4-2DFB-AFF1B137EECD}"/>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6" name="Footer Placeholder 5">
            <a:extLst>
              <a:ext uri="{FF2B5EF4-FFF2-40B4-BE49-F238E27FC236}">
                <a16:creationId xmlns:a16="http://schemas.microsoft.com/office/drawing/2014/main" id="{3F00BCA5-4A8F-11C3-259E-41FC247DB96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8B7C91B-E273-D6E9-2C92-33FA299D98C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79568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3A95-CE3F-AD4C-EF34-FBFA3B6DB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649BB5-0DA7-2C8F-C3C0-67A7E258F4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49E33CC-A980-5802-F5FE-B591715E6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F55470-93C0-D2CD-4357-AA21CF7DDF62}"/>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6" name="Footer Placeholder 5">
            <a:extLst>
              <a:ext uri="{FF2B5EF4-FFF2-40B4-BE49-F238E27FC236}">
                <a16:creationId xmlns:a16="http://schemas.microsoft.com/office/drawing/2014/main" id="{2A842F6C-7D02-18D9-5D92-23457C0F38F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B5535AB-688A-C759-0BEB-6A3EB0A03710}"/>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805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DEBF-305D-B2EE-C5D4-A4A20319D3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0C70C2-4A10-7C8E-1880-467020D970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F08D6-67BF-8160-4D61-B610D00CC0F0}"/>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8FF25DC0-9D67-6D83-E466-B6401C82815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4251EE4-7D59-3872-0EF1-5CEC674E417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9960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5535B0-F2A9-B4E9-3C9E-AC86837FDE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0DBEEE-7601-7A17-70BA-F83AD3857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98A0D-525D-5C70-AD65-2B3D4265367B}"/>
              </a:ext>
            </a:extLst>
          </p:cNvPr>
          <p:cNvSpPr>
            <a:spLocks noGrp="1"/>
          </p:cNvSpPr>
          <p:nvPr>
            <p:ph type="dt" sz="half" idx="10"/>
          </p:nvPr>
        </p:nvSpPr>
        <p:spPr/>
        <p:txBody>
          <a:body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1054EF1E-642A-93B1-46D6-8C070408C85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134E5A2-53D3-C4CE-FF4A-A0B5766AA89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5281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3493D8-0B78-04EA-105E-CBA907ED7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0B60F-2156-2AEE-7114-E493A32EDF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6E3CB3-E54A-B238-E3A6-DB6CDF552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5F953-CDCB-4316-A455-F587EF6ABE0B}" type="datetimeFigureOut">
              <a:rPr lang="en-IN" smtClean="0"/>
              <a:t>25-02-2025</a:t>
            </a:fld>
            <a:endParaRPr lang="en-IN" dirty="0"/>
          </a:p>
        </p:txBody>
      </p:sp>
      <p:sp>
        <p:nvSpPr>
          <p:cNvPr id="5" name="Footer Placeholder 4">
            <a:extLst>
              <a:ext uri="{FF2B5EF4-FFF2-40B4-BE49-F238E27FC236}">
                <a16:creationId xmlns:a16="http://schemas.microsoft.com/office/drawing/2014/main" id="{B65E8639-3EC6-1BF7-60AD-986155728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DFF1D7D4-F950-B228-4607-0787A3110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28C72A-8DFD-4E84-922E-0C27E49D0E2B}" type="slidenum">
              <a:rPr lang="en-IN" smtClean="0"/>
              <a:t>‹#›</a:t>
            </a:fld>
            <a:endParaRPr lang="en-IN" dirty="0"/>
          </a:p>
        </p:txBody>
      </p:sp>
    </p:spTree>
    <p:extLst>
      <p:ext uri="{BB962C8B-B14F-4D97-AF65-F5344CB8AC3E}">
        <p14:creationId xmlns:p14="http://schemas.microsoft.com/office/powerpoint/2010/main" val="3673015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image" Target="../media/image7.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emf"/><Relationship Id="rId11" Type="http://schemas.openxmlformats.org/officeDocument/2006/relationships/image" Target="../media/image5.png"/><Relationship Id="rId5" Type="http://schemas.openxmlformats.org/officeDocument/2006/relationships/oleObject" Target="../embeddings/oleObject2.bin"/><Relationship Id="rId15" Type="http://schemas.openxmlformats.org/officeDocument/2006/relationships/image" Target="../media/image9.jpeg"/><Relationship Id="rId10" Type="http://schemas.openxmlformats.org/officeDocument/2006/relationships/image" Target="../media/image4.emf"/><Relationship Id="rId4" Type="http://schemas.openxmlformats.org/officeDocument/2006/relationships/image" Target="../media/image1.emf"/><Relationship Id="rId9" Type="http://schemas.openxmlformats.org/officeDocument/2006/relationships/oleObject" Target="../embeddings/oleObject4.bin"/><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E5FB5-49C3-3653-E3C7-3FDF6ACD1E59}"/>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31B47A53-DC99-4C0C-D0DF-77B4CE0AA733}"/>
              </a:ext>
            </a:extLst>
          </p:cNvPr>
          <p:cNvSpPr/>
          <p:nvPr/>
        </p:nvSpPr>
        <p:spPr>
          <a:xfrm>
            <a:off x="247649" y="2901540"/>
            <a:ext cx="11700511" cy="3119250"/>
          </a:xfrm>
          <a:prstGeom prst="rect">
            <a:avLst/>
          </a:prstGeom>
          <a:solidFill>
            <a:schemeClr val="tx2">
              <a:lumMod val="10000"/>
              <a:lumOff val="90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0" name="Rectangle 29">
            <a:extLst>
              <a:ext uri="{FF2B5EF4-FFF2-40B4-BE49-F238E27FC236}">
                <a16:creationId xmlns:a16="http://schemas.microsoft.com/office/drawing/2014/main" id="{3CB5C5F9-ABF9-D4C1-2878-84DDDFC89044}"/>
              </a:ext>
            </a:extLst>
          </p:cNvPr>
          <p:cNvSpPr/>
          <p:nvPr/>
        </p:nvSpPr>
        <p:spPr>
          <a:xfrm>
            <a:off x="247650" y="209550"/>
            <a:ext cx="10181055" cy="2630699"/>
          </a:xfrm>
          <a:prstGeom prst="rect">
            <a:avLst/>
          </a:prstGeom>
          <a:solidFill>
            <a:srgbClr val="FEFAF8"/>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4" name="Rectangle 33">
            <a:extLst>
              <a:ext uri="{FF2B5EF4-FFF2-40B4-BE49-F238E27FC236}">
                <a16:creationId xmlns:a16="http://schemas.microsoft.com/office/drawing/2014/main" id="{139F20F7-0539-4F19-DDAB-279B3D5CFE90}"/>
              </a:ext>
            </a:extLst>
          </p:cNvPr>
          <p:cNvSpPr/>
          <p:nvPr/>
        </p:nvSpPr>
        <p:spPr>
          <a:xfrm>
            <a:off x="374111" y="3392488"/>
            <a:ext cx="914401" cy="2245549"/>
          </a:xfrm>
          <a:prstGeom prst="rect">
            <a:avLst/>
          </a:prstGeom>
          <a:solidFill>
            <a:schemeClr val="bg1">
              <a:lumMod val="95000"/>
            </a:schemeClr>
          </a:solidFill>
          <a:ln>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4C9233F5-EC5E-05E7-3074-BB0B9B4B65EC}"/>
              </a:ext>
            </a:extLst>
          </p:cNvPr>
          <p:cNvSpPr/>
          <p:nvPr/>
        </p:nvSpPr>
        <p:spPr>
          <a:xfrm>
            <a:off x="467808" y="564993"/>
            <a:ext cx="1295487"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Nasdaq Document</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6" name="Rectangle 5">
            <a:extLst>
              <a:ext uri="{FF2B5EF4-FFF2-40B4-BE49-F238E27FC236}">
                <a16:creationId xmlns:a16="http://schemas.microsoft.com/office/drawing/2014/main" id="{4A5229F0-EE99-142D-6B35-6FA13DAB8B96}"/>
              </a:ext>
            </a:extLst>
          </p:cNvPr>
          <p:cNvSpPr/>
          <p:nvPr/>
        </p:nvSpPr>
        <p:spPr>
          <a:xfrm>
            <a:off x="2397625" y="564993"/>
            <a:ext cx="1369703" cy="2164804"/>
          </a:xfrm>
          <a:prstGeom prst="rect">
            <a:avLst/>
          </a:prstGeom>
          <a:solidFill>
            <a:schemeClr val="tx2"/>
          </a:solid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LLM Engine (Azure OpenAI)</a:t>
            </a:r>
          </a:p>
        </p:txBody>
      </p:sp>
      <p:sp>
        <p:nvSpPr>
          <p:cNvPr id="13" name="Rectangle 12">
            <a:extLst>
              <a:ext uri="{FF2B5EF4-FFF2-40B4-BE49-F238E27FC236}">
                <a16:creationId xmlns:a16="http://schemas.microsoft.com/office/drawing/2014/main" id="{BC2F7FFB-B11B-B858-5A8B-08949E62C7B2}"/>
              </a:ext>
            </a:extLst>
          </p:cNvPr>
          <p:cNvSpPr/>
          <p:nvPr/>
        </p:nvSpPr>
        <p:spPr>
          <a:xfrm>
            <a:off x="479137" y="1941522"/>
            <a:ext cx="1286546"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Sample Data Files for Initial learning</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20" name="Rectangle 19">
            <a:extLst>
              <a:ext uri="{FF2B5EF4-FFF2-40B4-BE49-F238E27FC236}">
                <a16:creationId xmlns:a16="http://schemas.microsoft.com/office/drawing/2014/main" id="{96D0C66A-B173-AEDE-A1A8-9579169F877A}"/>
              </a:ext>
            </a:extLst>
          </p:cNvPr>
          <p:cNvSpPr/>
          <p:nvPr/>
        </p:nvSpPr>
        <p:spPr>
          <a:xfrm>
            <a:off x="4703064" y="635963"/>
            <a:ext cx="5501655" cy="2002355"/>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Taxonomy of Rule </a:t>
            </a:r>
          </a:p>
          <a:p>
            <a:pPr algn="ctr"/>
            <a:endParaRPr lang="en-US" sz="1200" b="1" dirty="0">
              <a:latin typeface="Tahoma" panose="020B0604030504040204" pitchFamily="34" charset="0"/>
              <a:ea typeface="Tahoma" panose="020B0604030504040204" pitchFamily="34" charset="0"/>
              <a:cs typeface="Tahoma" panose="020B0604030504040204" pitchFamily="34" charset="0"/>
            </a:endParaRPr>
          </a:p>
        </p:txBody>
      </p:sp>
      <p:grpSp>
        <p:nvGrpSpPr>
          <p:cNvPr id="8" name="Group 7">
            <a:extLst>
              <a:ext uri="{FF2B5EF4-FFF2-40B4-BE49-F238E27FC236}">
                <a16:creationId xmlns:a16="http://schemas.microsoft.com/office/drawing/2014/main" id="{46A3D892-34D7-3A82-24BB-5B854BD20B29}"/>
              </a:ext>
            </a:extLst>
          </p:cNvPr>
          <p:cNvGrpSpPr/>
          <p:nvPr/>
        </p:nvGrpSpPr>
        <p:grpSpPr>
          <a:xfrm>
            <a:off x="2014059" y="3201313"/>
            <a:ext cx="1770868" cy="2912962"/>
            <a:chOff x="2014058" y="3201314"/>
            <a:chExt cx="1713266" cy="2912961"/>
          </a:xfrm>
        </p:grpSpPr>
        <p:sp>
          <p:nvSpPr>
            <p:cNvPr id="21" name="Rectangle 20">
              <a:extLst>
                <a:ext uri="{FF2B5EF4-FFF2-40B4-BE49-F238E27FC236}">
                  <a16:creationId xmlns:a16="http://schemas.microsoft.com/office/drawing/2014/main" id="{DF252A6E-21E2-66B5-E110-BE4CD3967DE6}"/>
                </a:ext>
              </a:extLst>
            </p:cNvPr>
            <p:cNvSpPr/>
            <p:nvPr/>
          </p:nvSpPr>
          <p:spPr>
            <a:xfrm>
              <a:off x="2083367" y="32013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Validator</a:t>
              </a:r>
            </a:p>
          </p:txBody>
        </p:sp>
        <p:sp>
          <p:nvSpPr>
            <p:cNvPr id="29" name="TextBox 28">
              <a:extLst>
                <a:ext uri="{FF2B5EF4-FFF2-40B4-BE49-F238E27FC236}">
                  <a16:creationId xmlns:a16="http://schemas.microsoft.com/office/drawing/2014/main" id="{0EE619A8-E86E-E4B2-872F-5B1A7A040F58}"/>
                </a:ext>
              </a:extLst>
            </p:cNvPr>
            <p:cNvSpPr txBox="1"/>
            <p:nvPr/>
          </p:nvSpPr>
          <p:spPr>
            <a:xfrm>
              <a:off x="2014058" y="3367370"/>
              <a:ext cx="1708595" cy="2746905"/>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Identifying format of the field from Rule config file.</a:t>
              </a:r>
            </a:p>
            <a:p>
              <a:pPr marL="182563" indent="-182563">
                <a:buFont typeface="+mj-lt"/>
                <a:buAutoNum type="arabicPeriod"/>
              </a:pPr>
              <a:r>
                <a:rPr lang="en-US" sz="670" u="sng" dirty="0"/>
                <a:t>Step-1</a:t>
              </a:r>
              <a:r>
                <a:rPr lang="en-US" sz="670" dirty="0"/>
                <a:t> : Based on Field format Array or Nested objects or Simple Object (Key : Value) pair transform the data and stores into dataframe.</a:t>
              </a:r>
            </a:p>
            <a:p>
              <a:pPr marL="266700" lvl="1" indent="-228600">
                <a:buFont typeface="Arial" panose="020B0604020202020204" pitchFamily="34" charset="0"/>
                <a:buChar char="•"/>
              </a:pPr>
              <a:r>
                <a:rPr lang="en-US" sz="670" dirty="0"/>
                <a:t>If Field is Array : Convert it into Simple object using subcolumns field.</a:t>
              </a:r>
            </a:p>
            <a:p>
              <a:pPr marL="266700" lvl="1" indent="-228600">
                <a:buFont typeface="Arial" panose="020B0604020202020204" pitchFamily="34" charset="0"/>
                <a:buChar char="•"/>
              </a:pPr>
              <a:r>
                <a:rPr lang="en-US" sz="670" dirty="0"/>
                <a:t>If Field is Nested : Convert it into Simple object using subcolumns field.</a:t>
              </a:r>
            </a:p>
            <a:p>
              <a:pPr marL="266700" lvl="1" indent="-228600">
                <a:buFont typeface="Arial" panose="020B0604020202020204" pitchFamily="34" charset="0"/>
                <a:buChar char="•"/>
              </a:pPr>
              <a:r>
                <a:rPr lang="en-US" sz="670" dirty="0"/>
                <a:t>If Field is Simple Object : Do nothing.</a:t>
              </a:r>
            </a:p>
            <a:p>
              <a:pPr marL="182563" indent="-182563">
                <a:buFont typeface="+mj-lt"/>
                <a:buAutoNum type="arabicPeriod"/>
              </a:pPr>
              <a:r>
                <a:rPr lang="en-US" sz="670" u="sng" dirty="0"/>
                <a:t>Step-2</a:t>
              </a:r>
              <a:r>
                <a:rPr lang="en-US" sz="670" dirty="0"/>
                <a:t> : It will find the differences :</a:t>
              </a:r>
            </a:p>
            <a:p>
              <a:pPr marL="266700" lvl="1" indent="-228600">
                <a:buFont typeface="+mj-lt"/>
                <a:buAutoNum type="arabicPeriod"/>
              </a:pPr>
              <a:r>
                <a:rPr lang="en-US" sz="670" dirty="0"/>
                <a:t>Numeric : </a:t>
              </a:r>
            </a:p>
            <a:p>
              <a:pPr marL="209550" lvl="1" indent="-171450">
                <a:buFont typeface="Arial" panose="020B0604020202020204" pitchFamily="34" charset="0"/>
                <a:buChar char="•"/>
              </a:pPr>
              <a:r>
                <a:rPr lang="en-US" sz="670" dirty="0"/>
                <a:t>&lt;base_value&gt; - &lt;candidate_value&gt; returns &lt;value&gt;</a:t>
              </a:r>
            </a:p>
            <a:p>
              <a:pPr marL="266700" lvl="1" indent="-228600">
                <a:buFont typeface="+mj-lt"/>
                <a:buAutoNum type="arabicPeriod" startAt="2"/>
              </a:pPr>
              <a:r>
                <a:rPr lang="en-US" sz="670" dirty="0"/>
                <a:t>String : </a:t>
              </a:r>
            </a:p>
            <a:p>
              <a:pPr marL="285750" lvl="1" indent="-285750">
                <a:buFont typeface="Arial" panose="020B0604020202020204" pitchFamily="34" charset="0"/>
                <a:buChar char="•"/>
              </a:pPr>
              <a:r>
                <a:rPr lang="en-US" sz="670" dirty="0"/>
                <a:t>&lt;base_value&gt; == &lt;candidate_value&gt;  returns &lt;boolean&gt;</a:t>
              </a:r>
            </a:p>
            <a:p>
              <a:pPr marL="285750" lvl="1" indent="-285750">
                <a:buFont typeface="Arial" panose="020B0604020202020204" pitchFamily="34" charset="0"/>
                <a:buChar char="•"/>
              </a:pPr>
              <a:r>
                <a:rPr lang="en-US" sz="670" dirty="0"/>
                <a:t>&lt;base_value&gt;.casefold() == &lt;candidate_value&gt;.casefold() returns &lt;boolean&gt;</a:t>
              </a:r>
            </a:p>
          </p:txBody>
        </p:sp>
      </p:grpSp>
      <p:graphicFrame>
        <p:nvGraphicFramePr>
          <p:cNvPr id="32" name="Object 31">
            <a:extLst>
              <a:ext uri="{FF2B5EF4-FFF2-40B4-BE49-F238E27FC236}">
                <a16:creationId xmlns:a16="http://schemas.microsoft.com/office/drawing/2014/main" id="{CBEAFA7C-A75A-D078-1EDC-8AF50BDD790B}"/>
              </a:ext>
            </a:extLst>
          </p:cNvPr>
          <p:cNvGraphicFramePr>
            <a:graphicFrameLocks noChangeAspect="1"/>
          </p:cNvGraphicFramePr>
          <p:nvPr>
            <p:extLst>
              <p:ext uri="{D42A27DB-BD31-4B8C-83A1-F6EECF244321}">
                <p14:modId xmlns:p14="http://schemas.microsoft.com/office/powerpoint/2010/main" val="3602715978"/>
              </p:ext>
            </p:extLst>
          </p:nvPr>
        </p:nvGraphicFramePr>
        <p:xfrm>
          <a:off x="374650" y="3579813"/>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3" imgW="914563" imgH="771510" progId="Package">
                  <p:embed/>
                </p:oleObj>
              </mc:Choice>
              <mc:Fallback>
                <p:oleObj name="Packager Shell Object" showAsIcon="1" r:id="rId3" imgW="914563" imgH="771510" progId="Package">
                  <p:embed/>
                  <p:pic>
                    <p:nvPicPr>
                      <p:cNvPr id="32" name="Object 31">
                        <a:extLst>
                          <a:ext uri="{FF2B5EF4-FFF2-40B4-BE49-F238E27FC236}">
                            <a16:creationId xmlns:a16="http://schemas.microsoft.com/office/drawing/2014/main" id="{856A1239-07D4-2469-ACA4-5B3E1916C2A7}"/>
                          </a:ext>
                        </a:extLst>
                      </p:cNvPr>
                      <p:cNvPicPr/>
                      <p:nvPr/>
                    </p:nvPicPr>
                    <p:blipFill>
                      <a:blip r:embed="rId4"/>
                      <a:stretch>
                        <a:fillRect/>
                      </a:stretch>
                    </p:blipFill>
                    <p:spPr>
                      <a:xfrm>
                        <a:off x="374650" y="3579813"/>
                        <a:ext cx="914400" cy="77152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7A638D3F-4782-0FBC-7E88-C70CCDA09BD6}"/>
              </a:ext>
            </a:extLst>
          </p:cNvPr>
          <p:cNvGraphicFramePr>
            <a:graphicFrameLocks noChangeAspect="1"/>
          </p:cNvGraphicFramePr>
          <p:nvPr>
            <p:extLst>
              <p:ext uri="{D42A27DB-BD31-4B8C-83A1-F6EECF244321}">
                <p14:modId xmlns:p14="http://schemas.microsoft.com/office/powerpoint/2010/main" val="1747469224"/>
              </p:ext>
            </p:extLst>
          </p:nvPr>
        </p:nvGraphicFramePr>
        <p:xfrm>
          <a:off x="374112" y="4730810"/>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5" imgW="914563" imgH="771510" progId="Package">
                  <p:embed/>
                </p:oleObj>
              </mc:Choice>
              <mc:Fallback>
                <p:oleObj name="Packager Shell Object" showAsIcon="1" r:id="rId5" imgW="914563" imgH="771510" progId="Package">
                  <p:embed/>
                  <p:pic>
                    <p:nvPicPr>
                      <p:cNvPr id="37" name="Object 36">
                        <a:extLst>
                          <a:ext uri="{FF2B5EF4-FFF2-40B4-BE49-F238E27FC236}">
                            <a16:creationId xmlns:a16="http://schemas.microsoft.com/office/drawing/2014/main" id="{EDBE96A3-90B9-BCA1-B7B2-711B851942A2}"/>
                          </a:ext>
                        </a:extLst>
                      </p:cNvPr>
                      <p:cNvPicPr/>
                      <p:nvPr/>
                    </p:nvPicPr>
                    <p:blipFill>
                      <a:blip r:embed="rId6"/>
                      <a:stretch>
                        <a:fillRect/>
                      </a:stretch>
                    </p:blipFill>
                    <p:spPr>
                      <a:xfrm>
                        <a:off x="374112" y="4730810"/>
                        <a:ext cx="914400" cy="771525"/>
                      </a:xfrm>
                      <a:prstGeom prst="rect">
                        <a:avLst/>
                      </a:prstGeom>
                    </p:spPr>
                  </p:pic>
                </p:oleObj>
              </mc:Fallback>
            </mc:AlternateContent>
          </a:graphicData>
        </a:graphic>
      </p:graphicFrame>
      <p:grpSp>
        <p:nvGrpSpPr>
          <p:cNvPr id="41" name="Group 40">
            <a:extLst>
              <a:ext uri="{FF2B5EF4-FFF2-40B4-BE49-F238E27FC236}">
                <a16:creationId xmlns:a16="http://schemas.microsoft.com/office/drawing/2014/main" id="{C7D5E4BE-2754-46A7-F14D-D71A14D15473}"/>
              </a:ext>
            </a:extLst>
          </p:cNvPr>
          <p:cNvGrpSpPr/>
          <p:nvPr/>
        </p:nvGrpSpPr>
        <p:grpSpPr>
          <a:xfrm>
            <a:off x="1763295" y="959130"/>
            <a:ext cx="634330" cy="1376530"/>
            <a:chOff x="1763295" y="959130"/>
            <a:chExt cx="1048858" cy="1376530"/>
          </a:xfrm>
        </p:grpSpPr>
        <p:cxnSp>
          <p:nvCxnSpPr>
            <p:cNvPr id="25" name="Straight Arrow Connector 24">
              <a:extLst>
                <a:ext uri="{FF2B5EF4-FFF2-40B4-BE49-F238E27FC236}">
                  <a16:creationId xmlns:a16="http://schemas.microsoft.com/office/drawing/2014/main" id="{F748B665-CC2A-8861-E3CB-F5F97F7E160D}"/>
                </a:ext>
              </a:extLst>
            </p:cNvPr>
            <p:cNvCxnSpPr>
              <a:cxnSpLocks/>
              <a:stCxn id="4" idx="3"/>
            </p:cNvCxnSpPr>
            <p:nvPr/>
          </p:nvCxnSpPr>
          <p:spPr>
            <a:xfrm flipV="1">
              <a:off x="1763295" y="959130"/>
              <a:ext cx="1048858" cy="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 name="Straight Arrow Connector 1">
              <a:extLst>
                <a:ext uri="{FF2B5EF4-FFF2-40B4-BE49-F238E27FC236}">
                  <a16:creationId xmlns:a16="http://schemas.microsoft.com/office/drawing/2014/main" id="{5460E23D-66A8-83B0-0D91-CA222AD104B9}"/>
                </a:ext>
              </a:extLst>
            </p:cNvPr>
            <p:cNvCxnSpPr>
              <a:cxnSpLocks/>
              <a:stCxn id="13" idx="3"/>
            </p:cNvCxnSpPr>
            <p:nvPr/>
          </p:nvCxnSpPr>
          <p:spPr>
            <a:xfrm>
              <a:off x="1765683" y="2335660"/>
              <a:ext cx="104647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 name="Straight Arrow Connector 2">
            <a:extLst>
              <a:ext uri="{FF2B5EF4-FFF2-40B4-BE49-F238E27FC236}">
                <a16:creationId xmlns:a16="http://schemas.microsoft.com/office/drawing/2014/main" id="{CBE0AAC2-1DC0-890E-D847-92A79F791B79}"/>
              </a:ext>
            </a:extLst>
          </p:cNvPr>
          <p:cNvCxnSpPr>
            <a:cxnSpLocks/>
            <a:stCxn id="6" idx="3"/>
            <a:endCxn id="20" idx="1"/>
          </p:cNvCxnSpPr>
          <p:nvPr/>
        </p:nvCxnSpPr>
        <p:spPr>
          <a:xfrm flipV="1">
            <a:off x="3767328" y="1637141"/>
            <a:ext cx="935736" cy="1025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4366E3C-1C87-2E18-EAA2-FDA0C0E81614}"/>
              </a:ext>
            </a:extLst>
          </p:cNvPr>
          <p:cNvSpPr txBox="1"/>
          <p:nvPr/>
        </p:nvSpPr>
        <p:spPr>
          <a:xfrm>
            <a:off x="1850815" y="2129211"/>
            <a:ext cx="442750"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Fields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B4E17FA5-FC0C-447B-F989-1B227D89A2D3}"/>
              </a:ext>
            </a:extLst>
          </p:cNvPr>
          <p:cNvSpPr txBox="1"/>
          <p:nvPr/>
        </p:nvSpPr>
        <p:spPr>
          <a:xfrm>
            <a:off x="1693893" y="660348"/>
            <a:ext cx="789069" cy="584775"/>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Rules for fields in sample data files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EA5B6E0C-4765-17E5-8C0F-982AB4BEE830}"/>
              </a:ext>
            </a:extLst>
          </p:cNvPr>
          <p:cNvSpPr txBox="1"/>
          <p:nvPr/>
        </p:nvSpPr>
        <p:spPr>
          <a:xfrm>
            <a:off x="3774604" y="1474345"/>
            <a:ext cx="891591" cy="338554"/>
          </a:xfrm>
          <a:prstGeom prst="rect">
            <a:avLst/>
          </a:prstGeom>
          <a:noFill/>
        </p:spPr>
        <p:txBody>
          <a:bodyPr wrap="non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 Config File</a:t>
            </a:r>
          </a:p>
          <a:p>
            <a:pPr algn="ctr"/>
            <a:r>
              <a:rPr lang="en-US" sz="800" dirty="0">
                <a:latin typeface="Tahoma" panose="020B0604030504040204" pitchFamily="34" charset="0"/>
                <a:ea typeface="Tahoma" panose="020B0604030504040204" pitchFamily="34" charset="0"/>
                <a:cs typeface="Tahoma" panose="020B0604030504040204" pitchFamily="34" charset="0"/>
              </a:rPr>
              <a:t>(JSON Format)</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8BF07CF5-7482-064B-E557-E5A6766641A7}"/>
              </a:ext>
            </a:extLst>
          </p:cNvPr>
          <p:cNvSpPr txBox="1"/>
          <p:nvPr/>
        </p:nvSpPr>
        <p:spPr>
          <a:xfrm>
            <a:off x="4703064" y="643890"/>
            <a:ext cx="5591183" cy="2031325"/>
          </a:xfrm>
          <a:prstGeom prst="rect">
            <a:avLst/>
          </a:prstGeom>
          <a:noFill/>
        </p:spPr>
        <p:txBody>
          <a:bodyPr wrap="square">
            <a:spAutoFit/>
          </a:bodyPr>
          <a:lstStyle/>
          <a:p>
            <a:r>
              <a:rPr lang="en-GB" sz="700" dirty="0"/>
              <a:t>{</a:t>
            </a:r>
          </a:p>
          <a:p>
            <a:r>
              <a:rPr lang="en-GB" sz="700" dirty="0"/>
              <a:t>    "rules": [</a:t>
            </a:r>
          </a:p>
          <a:p>
            <a:r>
              <a:rPr lang="en-GB" sz="700" dirty="0"/>
              <a:t>        {</a:t>
            </a:r>
          </a:p>
          <a:p>
            <a:r>
              <a:rPr lang="en-GB" sz="700" dirty="0"/>
              <a:t>            "type": "&lt;Validation Type&gt;",</a:t>
            </a:r>
          </a:p>
          <a:p>
            <a:r>
              <a:rPr lang="en-GB" sz="700" dirty="0"/>
              <a:t>            "rulenumber": "&lt;Unique Rule Identifier&gt;",</a:t>
            </a:r>
          </a:p>
          <a:p>
            <a:r>
              <a:rPr lang="en-GB" sz="700" dirty="0"/>
              <a:t>            "columns": ["&lt;Applicable Fields&gt;"],</a:t>
            </a:r>
          </a:p>
          <a:p>
            <a:r>
              <a:rPr lang="en-GB" sz="700" dirty="0"/>
              <a:t>            "description": "&lt;Explanation of the rule&gt;",</a:t>
            </a:r>
          </a:p>
          <a:p>
            <a:r>
              <a:rPr lang="en-GB" sz="700" dirty="0"/>
              <a:t>            "format": "&lt;Applicable Format&gt;",</a:t>
            </a:r>
          </a:p>
          <a:p>
            <a:r>
              <a:rPr lang="en-GB" sz="700" dirty="0"/>
              <a:t>            "constraints": {"min": &lt;Minimum Value&gt;, "max": &lt;Maximum Value&gt;, "ignorecase": &lt;yes or no&gt;},</a:t>
            </a:r>
          </a:p>
          <a:p>
            <a:r>
              <a:rPr lang="en-GB" sz="700" dirty="0"/>
              <a:t>            "classification": {"min": &lt;classification1&gt;, "max": "classification2", "min_max": "classification3", "other": "classification4"},</a:t>
            </a:r>
          </a:p>
          <a:p>
            <a:r>
              <a:rPr lang="en-GB" sz="700" dirty="0"/>
              <a:t>            "subcolumns": ["subcolumn1", "subcolumn2", "subcolumn3“, “subcolumn[N]”],</a:t>
            </a:r>
          </a:p>
          <a:p>
            <a:r>
              <a:rPr lang="en-GB" sz="700" dirty="0"/>
              <a:t>            "relations": ["&lt;Related Parameters&gt;"],</a:t>
            </a:r>
          </a:p>
          <a:p>
            <a:r>
              <a:rPr lang="en-GB" sz="700" dirty="0"/>
              <a:t>            "validvalues": ["&lt;Allowed Values&gt;"],</a:t>
            </a:r>
          </a:p>
          <a:p>
            <a:r>
              <a:rPr lang="en-GB" sz="700" dirty="0"/>
              <a:t>            "defaultvalue": "&lt;Default Value&gt;",</a:t>
            </a:r>
          </a:p>
          <a:p>
            <a:r>
              <a:rPr lang="en-GB" sz="700" dirty="0"/>
              <a:t>            "exclusions": ["&lt;Conditions under which this rule is ignored&gt;"]</a:t>
            </a:r>
          </a:p>
          <a:p>
            <a:r>
              <a:rPr lang="en-GB" sz="700" dirty="0"/>
              <a:t>        }</a:t>
            </a:r>
          </a:p>
          <a:p>
            <a:r>
              <a:rPr lang="en-GB" sz="700" dirty="0"/>
              <a:t>    ]</a:t>
            </a:r>
          </a:p>
          <a:p>
            <a:r>
              <a:rPr lang="en-GB" sz="700" dirty="0"/>
              <a:t>}</a:t>
            </a:r>
          </a:p>
        </p:txBody>
      </p:sp>
      <p:graphicFrame>
        <p:nvGraphicFramePr>
          <p:cNvPr id="22" name="Object 21">
            <a:extLst>
              <a:ext uri="{FF2B5EF4-FFF2-40B4-BE49-F238E27FC236}">
                <a16:creationId xmlns:a16="http://schemas.microsoft.com/office/drawing/2014/main" id="{D3318E86-58E8-CC68-3F13-5AA32CF90436}"/>
              </a:ext>
            </a:extLst>
          </p:cNvPr>
          <p:cNvGraphicFramePr>
            <a:graphicFrameLocks noChangeAspect="1"/>
          </p:cNvGraphicFramePr>
          <p:nvPr>
            <p:extLst>
              <p:ext uri="{D42A27DB-BD31-4B8C-83A1-F6EECF244321}">
                <p14:modId xmlns:p14="http://schemas.microsoft.com/office/powerpoint/2010/main" val="1758223593"/>
              </p:ext>
            </p:extLst>
          </p:nvPr>
        </p:nvGraphicFramePr>
        <p:xfrm>
          <a:off x="8512419" y="772942"/>
          <a:ext cx="1076325" cy="514350"/>
        </p:xfrm>
        <a:graphic>
          <a:graphicData uri="http://schemas.openxmlformats.org/presentationml/2006/ole">
            <mc:AlternateContent xmlns:mc="http://schemas.openxmlformats.org/markup-compatibility/2006">
              <mc:Choice xmlns:v="urn:schemas-microsoft-com:vml" Requires="v">
                <p:oleObj name="Packager Shell Object" showAsIcon="1" r:id="rId7" imgW="1076262" imgH="514178" progId="Package">
                  <p:embed/>
                </p:oleObj>
              </mc:Choice>
              <mc:Fallback>
                <p:oleObj name="Packager Shell Object" showAsIcon="1" r:id="rId7" imgW="1076262" imgH="514178" progId="Package">
                  <p:embed/>
                  <p:pic>
                    <p:nvPicPr>
                      <p:cNvPr id="22" name="Object 21">
                        <a:extLst>
                          <a:ext uri="{FF2B5EF4-FFF2-40B4-BE49-F238E27FC236}">
                            <a16:creationId xmlns:a16="http://schemas.microsoft.com/office/drawing/2014/main" id="{4EE98213-0D1C-9667-C812-F44AEE8C4A3B}"/>
                          </a:ext>
                        </a:extLst>
                      </p:cNvPr>
                      <p:cNvPicPr/>
                      <p:nvPr/>
                    </p:nvPicPr>
                    <p:blipFill>
                      <a:blip r:embed="rId8"/>
                      <a:stretch>
                        <a:fillRect/>
                      </a:stretch>
                    </p:blipFill>
                    <p:spPr>
                      <a:xfrm>
                        <a:off x="8512419" y="772942"/>
                        <a:ext cx="1076325" cy="51435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8DEC8271-4949-FC88-68EF-5F8CCE6D170B}"/>
              </a:ext>
            </a:extLst>
          </p:cNvPr>
          <p:cNvGraphicFramePr>
            <a:graphicFrameLocks noChangeAspect="1"/>
          </p:cNvGraphicFramePr>
          <p:nvPr>
            <p:extLst>
              <p:ext uri="{D42A27DB-BD31-4B8C-83A1-F6EECF244321}">
                <p14:modId xmlns:p14="http://schemas.microsoft.com/office/powerpoint/2010/main" val="3595378809"/>
              </p:ext>
            </p:extLst>
          </p:nvPr>
        </p:nvGraphicFramePr>
        <p:xfrm>
          <a:off x="9365662" y="772942"/>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9" imgW="914570" imgH="771690" progId="Package">
                  <p:embed/>
                </p:oleObj>
              </mc:Choice>
              <mc:Fallback>
                <p:oleObj name="Packager Shell Object" showAsIcon="1" r:id="rId9" imgW="914570" imgH="771690" progId="Package">
                  <p:embed/>
                  <p:pic>
                    <p:nvPicPr>
                      <p:cNvPr id="23" name="Object 22">
                        <a:extLst>
                          <a:ext uri="{FF2B5EF4-FFF2-40B4-BE49-F238E27FC236}">
                            <a16:creationId xmlns:a16="http://schemas.microsoft.com/office/drawing/2014/main" id="{E822F2AF-AC14-A0AF-7E02-270A365E5050}"/>
                          </a:ext>
                        </a:extLst>
                      </p:cNvPr>
                      <p:cNvPicPr/>
                      <p:nvPr/>
                    </p:nvPicPr>
                    <p:blipFill>
                      <a:blip r:embed="rId10"/>
                      <a:stretch>
                        <a:fillRect/>
                      </a:stretch>
                    </p:blipFill>
                    <p:spPr>
                      <a:xfrm>
                        <a:off x="9365662" y="772942"/>
                        <a:ext cx="914400" cy="771525"/>
                      </a:xfrm>
                      <a:prstGeom prst="rect">
                        <a:avLst/>
                      </a:prstGeom>
                    </p:spPr>
                  </p:pic>
                </p:oleObj>
              </mc:Fallback>
            </mc:AlternateContent>
          </a:graphicData>
        </a:graphic>
      </p:graphicFrame>
      <p:sp>
        <p:nvSpPr>
          <p:cNvPr id="45" name="Arrow: Right 44">
            <a:extLst>
              <a:ext uri="{FF2B5EF4-FFF2-40B4-BE49-F238E27FC236}">
                <a16:creationId xmlns:a16="http://schemas.microsoft.com/office/drawing/2014/main" id="{DA830FC8-2C1F-D9BE-4907-AB85B8A09A5B}"/>
              </a:ext>
            </a:extLst>
          </p:cNvPr>
          <p:cNvSpPr/>
          <p:nvPr/>
        </p:nvSpPr>
        <p:spPr>
          <a:xfrm>
            <a:off x="1415512" y="4133088"/>
            <a:ext cx="633984"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7" name="Connector: Elbow 46">
            <a:extLst>
              <a:ext uri="{FF2B5EF4-FFF2-40B4-BE49-F238E27FC236}">
                <a16:creationId xmlns:a16="http://schemas.microsoft.com/office/drawing/2014/main" id="{F5F42FB7-0767-5AD0-EB55-043F0621B673}"/>
              </a:ext>
            </a:extLst>
          </p:cNvPr>
          <p:cNvCxnSpPr>
            <a:cxnSpLocks/>
          </p:cNvCxnSpPr>
          <p:nvPr/>
        </p:nvCxnSpPr>
        <p:spPr>
          <a:xfrm rot="5400000">
            <a:off x="3658920" y="567983"/>
            <a:ext cx="1616690" cy="5513521"/>
          </a:xfrm>
          <a:prstGeom prst="bentConnector3">
            <a:avLst>
              <a:gd name="adj1" fmla="val 39443"/>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0" name="Arrow: Right 49">
            <a:extLst>
              <a:ext uri="{FF2B5EF4-FFF2-40B4-BE49-F238E27FC236}">
                <a16:creationId xmlns:a16="http://schemas.microsoft.com/office/drawing/2014/main" id="{6959C799-7F4F-013B-6658-D5808E9B48E5}"/>
              </a:ext>
            </a:extLst>
          </p:cNvPr>
          <p:cNvSpPr/>
          <p:nvPr/>
        </p:nvSpPr>
        <p:spPr>
          <a:xfrm>
            <a:off x="5838864" y="4129555"/>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a:extLst>
              <a:ext uri="{FF2B5EF4-FFF2-40B4-BE49-F238E27FC236}">
                <a16:creationId xmlns:a16="http://schemas.microsoft.com/office/drawing/2014/main" id="{C5FF2174-2FE1-62F2-1523-E0FF2D3ABD8D}"/>
              </a:ext>
            </a:extLst>
          </p:cNvPr>
          <p:cNvPicPr>
            <a:picLocks noChangeAspect="1"/>
          </p:cNvPicPr>
          <p:nvPr/>
        </p:nvPicPr>
        <p:blipFill>
          <a:blip r:embed="rId11"/>
          <a:stretch>
            <a:fillRect/>
          </a:stretch>
        </p:blipFill>
        <p:spPr>
          <a:xfrm>
            <a:off x="6096000" y="3620119"/>
            <a:ext cx="3976926" cy="1884069"/>
          </a:xfrm>
          <a:prstGeom prst="rect">
            <a:avLst/>
          </a:prstGeom>
        </p:spPr>
      </p:pic>
      <p:sp>
        <p:nvSpPr>
          <p:cNvPr id="55" name="TextBox 54">
            <a:extLst>
              <a:ext uri="{FF2B5EF4-FFF2-40B4-BE49-F238E27FC236}">
                <a16:creationId xmlns:a16="http://schemas.microsoft.com/office/drawing/2014/main" id="{F57E33AE-CC24-F0EF-5197-4408C42A9FF6}"/>
              </a:ext>
            </a:extLst>
          </p:cNvPr>
          <p:cNvSpPr txBox="1"/>
          <p:nvPr/>
        </p:nvSpPr>
        <p:spPr>
          <a:xfrm>
            <a:off x="7345318" y="3379931"/>
            <a:ext cx="1478290" cy="276999"/>
          </a:xfrm>
          <a:prstGeom prst="rect">
            <a:avLst/>
          </a:prstGeom>
          <a:noFill/>
        </p:spPr>
        <p:txBody>
          <a:bodyPr wrap="none" rtlCol="0">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Detailed Reports</a:t>
            </a:r>
            <a:endParaRPr lang="en-GB" sz="1200" b="1" dirty="0">
              <a:latin typeface="Tahoma" panose="020B0604030504040204" pitchFamily="34" charset="0"/>
              <a:ea typeface="Tahoma" panose="020B0604030504040204" pitchFamily="34" charset="0"/>
              <a:cs typeface="Tahoma" panose="020B0604030504040204" pitchFamily="34" charset="0"/>
            </a:endParaRPr>
          </a:p>
        </p:txBody>
      </p:sp>
      <p:sp>
        <p:nvSpPr>
          <p:cNvPr id="57" name="TextBox 56">
            <a:extLst>
              <a:ext uri="{FF2B5EF4-FFF2-40B4-BE49-F238E27FC236}">
                <a16:creationId xmlns:a16="http://schemas.microsoft.com/office/drawing/2014/main" id="{98615C01-A46F-F206-5DEB-B8EA394FF4C0}"/>
              </a:ext>
            </a:extLst>
          </p:cNvPr>
          <p:cNvSpPr txBox="1"/>
          <p:nvPr/>
        </p:nvSpPr>
        <p:spPr>
          <a:xfrm>
            <a:off x="6063801" y="5514092"/>
            <a:ext cx="4140918" cy="261610"/>
          </a:xfrm>
          <a:prstGeom prst="rect">
            <a:avLst/>
          </a:prstGeom>
          <a:noFill/>
        </p:spPr>
        <p:txBody>
          <a:bodyPr wrap="square">
            <a:spAutoFit/>
          </a:bodyPr>
          <a:lstStyle/>
          <a:p>
            <a:r>
              <a:rPr lang="en-GB" sz="1100" dirty="0">
                <a:latin typeface="Tahoma" panose="020B0604030504040204" pitchFamily="34" charset="0"/>
                <a:ea typeface="Tahoma" panose="020B0604030504040204" pitchFamily="34" charset="0"/>
                <a:cs typeface="Tahoma" panose="020B0604030504040204" pitchFamily="34" charset="0"/>
              </a:rPr>
              <a:t>Filters for runtime | KPIs | BAR charts | PIE charts | Table Grid</a:t>
            </a:r>
          </a:p>
        </p:txBody>
      </p:sp>
      <p:sp>
        <p:nvSpPr>
          <p:cNvPr id="60" name="TextBox 59">
            <a:extLst>
              <a:ext uri="{FF2B5EF4-FFF2-40B4-BE49-F238E27FC236}">
                <a16:creationId xmlns:a16="http://schemas.microsoft.com/office/drawing/2014/main" id="{C4E3A757-8AFB-0C4A-3674-2A030BEAF6A2}"/>
              </a:ext>
            </a:extLst>
          </p:cNvPr>
          <p:cNvSpPr txBox="1"/>
          <p:nvPr/>
        </p:nvSpPr>
        <p:spPr>
          <a:xfrm>
            <a:off x="10104409" y="4023236"/>
            <a:ext cx="598241"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Export to</a:t>
            </a:r>
            <a:endParaRPr lang="en-GB" sz="800" dirty="0">
              <a:latin typeface="Tahoma" panose="020B0604030504040204" pitchFamily="34" charset="0"/>
              <a:ea typeface="Tahoma" panose="020B0604030504040204" pitchFamily="34" charset="0"/>
              <a:cs typeface="Tahoma" panose="020B0604030504040204" pitchFamily="34" charset="0"/>
            </a:endParaRPr>
          </a:p>
        </p:txBody>
      </p:sp>
      <p:cxnSp>
        <p:nvCxnSpPr>
          <p:cNvPr id="61" name="Straight Arrow Connector 60">
            <a:extLst>
              <a:ext uri="{FF2B5EF4-FFF2-40B4-BE49-F238E27FC236}">
                <a16:creationId xmlns:a16="http://schemas.microsoft.com/office/drawing/2014/main" id="{8BBC6736-2706-6714-40A6-E15A57BD5653}"/>
              </a:ext>
            </a:extLst>
          </p:cNvPr>
          <p:cNvCxnSpPr>
            <a:cxnSpLocks/>
          </p:cNvCxnSpPr>
          <p:nvPr/>
        </p:nvCxnSpPr>
        <p:spPr>
          <a:xfrm>
            <a:off x="10112262" y="4238680"/>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1025" name="Group 1024">
            <a:extLst>
              <a:ext uri="{FF2B5EF4-FFF2-40B4-BE49-F238E27FC236}">
                <a16:creationId xmlns:a16="http://schemas.microsoft.com/office/drawing/2014/main" id="{1E64FC60-4F29-4106-2C9D-56B459A9B40A}"/>
              </a:ext>
            </a:extLst>
          </p:cNvPr>
          <p:cNvGrpSpPr/>
          <p:nvPr/>
        </p:nvGrpSpPr>
        <p:grpSpPr>
          <a:xfrm>
            <a:off x="10784484" y="4041813"/>
            <a:ext cx="939268" cy="393733"/>
            <a:chOff x="11042175" y="3474113"/>
            <a:chExt cx="1512699" cy="634111"/>
          </a:xfrm>
        </p:grpSpPr>
        <p:sp>
          <p:nvSpPr>
            <p:cNvPr id="1024" name="Rectangle: Rounded Corners 1023">
              <a:extLst>
                <a:ext uri="{FF2B5EF4-FFF2-40B4-BE49-F238E27FC236}">
                  <a16:creationId xmlns:a16="http://schemas.microsoft.com/office/drawing/2014/main" id="{70A5827F-9DD8-6F67-16B3-B4102FF166C4}"/>
                </a:ext>
              </a:extLst>
            </p:cNvPr>
            <p:cNvSpPr/>
            <p:nvPr/>
          </p:nvSpPr>
          <p:spPr>
            <a:xfrm>
              <a:off x="11042175" y="3474113"/>
              <a:ext cx="1512699" cy="63411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26" name="Picture 2" descr="Microsoft Excel 2013 Logo PNG Vector ...">
              <a:extLst>
                <a:ext uri="{FF2B5EF4-FFF2-40B4-BE49-F238E27FC236}">
                  <a16:creationId xmlns:a16="http://schemas.microsoft.com/office/drawing/2014/main" id="{DE2E44C6-19AB-8DBF-24F7-6A6CF1E2A79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318" y="3615788"/>
              <a:ext cx="388886" cy="38032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23D0DEA0-32E8-5EAA-A7D9-C07995061DB1}"/>
                </a:ext>
              </a:extLst>
            </p:cNvPr>
            <p:cNvPicPr>
              <a:picLocks noChangeAspect="1"/>
            </p:cNvPicPr>
            <p:nvPr/>
          </p:nvPicPr>
          <p:blipFill>
            <a:blip r:embed="rId13"/>
            <a:stretch>
              <a:fillRect/>
            </a:stretch>
          </p:blipFill>
          <p:spPr>
            <a:xfrm>
              <a:off x="11643826" y="3615314"/>
              <a:ext cx="412525" cy="380794"/>
            </a:xfrm>
            <a:prstGeom prst="rect">
              <a:avLst/>
            </a:prstGeom>
          </p:spPr>
        </p:pic>
        <p:pic>
          <p:nvPicPr>
            <p:cNvPr id="63" name="Picture 62">
              <a:extLst>
                <a:ext uri="{FF2B5EF4-FFF2-40B4-BE49-F238E27FC236}">
                  <a16:creationId xmlns:a16="http://schemas.microsoft.com/office/drawing/2014/main" id="{2925B646-FE43-8737-A5D2-0B52366A81DC}"/>
                </a:ext>
              </a:extLst>
            </p:cNvPr>
            <p:cNvPicPr>
              <a:picLocks noChangeAspect="1"/>
            </p:cNvPicPr>
            <p:nvPr/>
          </p:nvPicPr>
          <p:blipFill>
            <a:blip r:embed="rId14"/>
            <a:stretch>
              <a:fillRect/>
            </a:stretch>
          </p:blipFill>
          <p:spPr>
            <a:xfrm>
              <a:off x="12150856" y="3545525"/>
              <a:ext cx="323253" cy="423363"/>
            </a:xfrm>
            <a:prstGeom prst="rect">
              <a:avLst/>
            </a:prstGeom>
          </p:spPr>
        </p:pic>
      </p:grpSp>
      <p:pic>
        <p:nvPicPr>
          <p:cNvPr id="1032" name="Picture 8">
            <a:extLst>
              <a:ext uri="{FF2B5EF4-FFF2-40B4-BE49-F238E27FC236}">
                <a16:creationId xmlns:a16="http://schemas.microsoft.com/office/drawing/2014/main" id="{9BBD3288-EFC4-5531-554E-F12212FF5DC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02960" y="4847422"/>
            <a:ext cx="902315" cy="380746"/>
          </a:xfrm>
          <a:prstGeom prst="rect">
            <a:avLst/>
          </a:prstGeom>
          <a:noFill/>
          <a:extLst>
            <a:ext uri="{909E8E84-426E-40DD-AFC4-6F175D3DCCD1}">
              <a14:hiddenFill xmlns:a14="http://schemas.microsoft.com/office/drawing/2010/main">
                <a:solidFill>
                  <a:srgbClr val="FFFFFF"/>
                </a:solidFill>
              </a14:hiddenFill>
            </a:ext>
          </a:extLst>
        </p:spPr>
      </p:pic>
      <p:cxnSp>
        <p:nvCxnSpPr>
          <p:cNvPr id="1027" name="Straight Arrow Connector 1026">
            <a:extLst>
              <a:ext uri="{FF2B5EF4-FFF2-40B4-BE49-F238E27FC236}">
                <a16:creationId xmlns:a16="http://schemas.microsoft.com/office/drawing/2014/main" id="{D5F993AE-E16E-7692-B380-3F72A87EE7B4}"/>
              </a:ext>
            </a:extLst>
          </p:cNvPr>
          <p:cNvCxnSpPr>
            <a:cxnSpLocks/>
          </p:cNvCxnSpPr>
          <p:nvPr/>
        </p:nvCxnSpPr>
        <p:spPr>
          <a:xfrm>
            <a:off x="10104409" y="5037795"/>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29" name="TextBox 1028">
            <a:extLst>
              <a:ext uri="{FF2B5EF4-FFF2-40B4-BE49-F238E27FC236}">
                <a16:creationId xmlns:a16="http://schemas.microsoft.com/office/drawing/2014/main" id="{C5E925E2-34D8-D7AC-2C7C-2D6AEF006A16}"/>
              </a:ext>
            </a:extLst>
          </p:cNvPr>
          <p:cNvSpPr txBox="1"/>
          <p:nvPr/>
        </p:nvSpPr>
        <p:spPr>
          <a:xfrm>
            <a:off x="10099405" y="4872304"/>
            <a:ext cx="598241" cy="338554"/>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Defect Creation</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1" name="TextBox 1030">
            <a:extLst>
              <a:ext uri="{FF2B5EF4-FFF2-40B4-BE49-F238E27FC236}">
                <a16:creationId xmlns:a16="http://schemas.microsoft.com/office/drawing/2014/main" id="{F9716566-94C9-57C8-6560-CAE04F96D6C3}"/>
              </a:ext>
            </a:extLst>
          </p:cNvPr>
          <p:cNvSpPr txBox="1"/>
          <p:nvPr/>
        </p:nvSpPr>
        <p:spPr>
          <a:xfrm>
            <a:off x="10802960" y="5260890"/>
            <a:ext cx="978153"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(Not Part of POC)</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3" name="TextBox 1032">
            <a:extLst>
              <a:ext uri="{FF2B5EF4-FFF2-40B4-BE49-F238E27FC236}">
                <a16:creationId xmlns:a16="http://schemas.microsoft.com/office/drawing/2014/main" id="{ACDA82F7-1178-7345-3ECA-586C9DB95017}"/>
              </a:ext>
            </a:extLst>
          </p:cNvPr>
          <p:cNvSpPr txBox="1"/>
          <p:nvPr/>
        </p:nvSpPr>
        <p:spPr>
          <a:xfrm>
            <a:off x="1541245" y="4461165"/>
            <a:ext cx="388620" cy="954107"/>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UI </a:t>
            </a:r>
          </a:p>
          <a:p>
            <a:r>
              <a:rPr lang="en-GB" sz="800" dirty="0">
                <a:latin typeface="Tahoma" panose="020B0604030504040204" pitchFamily="34" charset="0"/>
                <a:ea typeface="Tahoma" panose="020B0604030504040204" pitchFamily="34" charset="0"/>
                <a:cs typeface="Tahoma" panose="020B0604030504040204" pitchFamily="34" charset="0"/>
              </a:rPr>
              <a:t>__</a:t>
            </a:r>
          </a:p>
          <a:p>
            <a:endParaRPr lang="en-GB" sz="800" dirty="0">
              <a:latin typeface="Tahoma" panose="020B0604030504040204" pitchFamily="34" charset="0"/>
              <a:ea typeface="Tahoma" panose="020B0604030504040204" pitchFamily="34" charset="0"/>
              <a:cs typeface="Tahoma" panose="020B0604030504040204" pitchFamily="34" charset="0"/>
            </a:endParaRPr>
          </a:p>
          <a:p>
            <a:r>
              <a:rPr lang="en-GB" sz="800" dirty="0">
                <a:latin typeface="Tahoma" panose="020B0604030504040204" pitchFamily="34" charset="0"/>
                <a:ea typeface="Tahoma" panose="020B0604030504040204" pitchFamily="34" charset="0"/>
                <a:cs typeface="Tahoma" panose="020B0604030504040204" pitchFamily="34" charset="0"/>
              </a:rPr>
              <a:t>CLI</a:t>
            </a:r>
          </a:p>
          <a:p>
            <a:r>
              <a:rPr lang="en-GB" sz="800" dirty="0">
                <a:latin typeface="Tahoma" panose="020B0604030504040204" pitchFamily="34" charset="0"/>
                <a:ea typeface="Tahoma" panose="020B0604030504040204" pitchFamily="34" charset="0"/>
                <a:cs typeface="Tahoma" panose="020B0604030504040204" pitchFamily="34" charset="0"/>
              </a:rPr>
              <a:t>__</a:t>
            </a:r>
          </a:p>
          <a:p>
            <a:r>
              <a:rPr lang="en-GB" sz="800" dirty="0">
                <a:latin typeface="Tahoma" panose="020B0604030504040204" pitchFamily="34" charset="0"/>
                <a:ea typeface="Tahoma" panose="020B0604030504040204" pitchFamily="34" charset="0"/>
                <a:cs typeface="Tahoma" panose="020B0604030504040204" pitchFamily="34" charset="0"/>
              </a:rPr>
              <a:t> </a:t>
            </a:r>
          </a:p>
          <a:p>
            <a:r>
              <a:rPr lang="en-GB" sz="800" dirty="0">
                <a:latin typeface="Tahoma" panose="020B0604030504040204" pitchFamily="34" charset="0"/>
                <a:ea typeface="Tahoma" panose="020B0604030504040204" pitchFamily="34" charset="0"/>
                <a:cs typeface="Tahoma" panose="020B0604030504040204" pitchFamily="34" charset="0"/>
              </a:rPr>
              <a:t>API</a:t>
            </a:r>
          </a:p>
        </p:txBody>
      </p:sp>
      <p:sp>
        <p:nvSpPr>
          <p:cNvPr id="1034" name="TextBox 1033">
            <a:extLst>
              <a:ext uri="{FF2B5EF4-FFF2-40B4-BE49-F238E27FC236}">
                <a16:creationId xmlns:a16="http://schemas.microsoft.com/office/drawing/2014/main" id="{6A3B5845-9B12-E4AB-3FA1-DBC66D446E3E}"/>
              </a:ext>
            </a:extLst>
          </p:cNvPr>
          <p:cNvSpPr txBox="1"/>
          <p:nvPr/>
        </p:nvSpPr>
        <p:spPr>
          <a:xfrm>
            <a:off x="167847" y="196128"/>
            <a:ext cx="2029090"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COFORGE ENVIRONMENT</a:t>
            </a:r>
          </a:p>
        </p:txBody>
      </p:sp>
      <p:sp>
        <p:nvSpPr>
          <p:cNvPr id="1035" name="TextBox 1034">
            <a:extLst>
              <a:ext uri="{FF2B5EF4-FFF2-40B4-BE49-F238E27FC236}">
                <a16:creationId xmlns:a16="http://schemas.microsoft.com/office/drawing/2014/main" id="{055BFB00-10D8-FB8F-598B-69CF2984D1BB}"/>
              </a:ext>
            </a:extLst>
          </p:cNvPr>
          <p:cNvSpPr txBox="1"/>
          <p:nvPr/>
        </p:nvSpPr>
        <p:spPr>
          <a:xfrm>
            <a:off x="206858" y="5759181"/>
            <a:ext cx="1643957"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ASX ENVIRONMENT</a:t>
            </a:r>
          </a:p>
        </p:txBody>
      </p:sp>
      <p:grpSp>
        <p:nvGrpSpPr>
          <p:cNvPr id="9" name="Group 8">
            <a:extLst>
              <a:ext uri="{FF2B5EF4-FFF2-40B4-BE49-F238E27FC236}">
                <a16:creationId xmlns:a16="http://schemas.microsoft.com/office/drawing/2014/main" id="{1FFADF78-809E-7CB6-E5AC-EFA95639B7BB}"/>
              </a:ext>
            </a:extLst>
          </p:cNvPr>
          <p:cNvGrpSpPr/>
          <p:nvPr/>
        </p:nvGrpSpPr>
        <p:grpSpPr>
          <a:xfrm>
            <a:off x="4050361" y="3201314"/>
            <a:ext cx="1789031" cy="2774090"/>
            <a:chOff x="3880958" y="3048914"/>
            <a:chExt cx="1750222" cy="2774090"/>
          </a:xfrm>
        </p:grpSpPr>
        <p:sp>
          <p:nvSpPr>
            <p:cNvPr id="10" name="Rectangle 9">
              <a:extLst>
                <a:ext uri="{FF2B5EF4-FFF2-40B4-BE49-F238E27FC236}">
                  <a16:creationId xmlns:a16="http://schemas.microsoft.com/office/drawing/2014/main" id="{C26E2DAC-2A0A-900B-DF99-3A9E95654850}"/>
                </a:ext>
              </a:extLst>
            </p:cNvPr>
            <p:cNvSpPr/>
            <p:nvPr/>
          </p:nvSpPr>
          <p:spPr>
            <a:xfrm>
              <a:off x="3943448" y="30489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Reconciliation</a:t>
              </a:r>
            </a:p>
          </p:txBody>
        </p:sp>
        <p:sp>
          <p:nvSpPr>
            <p:cNvPr id="11" name="TextBox 10">
              <a:extLst>
                <a:ext uri="{FF2B5EF4-FFF2-40B4-BE49-F238E27FC236}">
                  <a16:creationId xmlns:a16="http://schemas.microsoft.com/office/drawing/2014/main" id="{D056A8CC-0479-493E-DFE1-E966CC75F7FA}"/>
                </a:ext>
              </a:extLst>
            </p:cNvPr>
            <p:cNvSpPr txBox="1"/>
            <p:nvPr/>
          </p:nvSpPr>
          <p:spPr>
            <a:xfrm>
              <a:off x="3880958" y="3321650"/>
              <a:ext cx="1750222" cy="1888017"/>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Get the differences from Validation.</a:t>
              </a:r>
            </a:p>
            <a:p>
              <a:pPr marL="182563" indent="-182563">
                <a:buFont typeface="+mj-lt"/>
                <a:buAutoNum type="arabicPeriod"/>
              </a:pPr>
              <a:r>
                <a:rPr lang="en-US" sz="670" dirty="0"/>
                <a:t>Classify it based on Rule config fil. For a given rule :</a:t>
              </a:r>
            </a:p>
            <a:p>
              <a:pPr marL="266700" indent="-171450">
                <a:buFont typeface="Arial" panose="020B0604020202020204" pitchFamily="34" charset="0"/>
                <a:buChar char="•"/>
              </a:pPr>
              <a:r>
                <a:rPr lang="en-US" sz="670" dirty="0"/>
                <a:t>MIN : &lt;classification1&gt;</a:t>
              </a:r>
            </a:p>
            <a:p>
              <a:pPr marL="266700" indent="-171450">
                <a:buFont typeface="Arial" panose="020B0604020202020204" pitchFamily="34" charset="0"/>
                <a:buChar char="•"/>
              </a:pPr>
              <a:r>
                <a:rPr lang="en-US" sz="670" dirty="0"/>
                <a:t>MAX : &lt;classification2&gt;</a:t>
              </a:r>
            </a:p>
            <a:p>
              <a:pPr marL="266700" indent="-171450">
                <a:buFont typeface="Arial" panose="020B0604020202020204" pitchFamily="34" charset="0"/>
                <a:buChar char="•"/>
              </a:pPr>
              <a:r>
                <a:rPr lang="en-US" sz="670" dirty="0"/>
                <a:t>MIN_MAX: &lt;classification3&gt;</a:t>
              </a:r>
            </a:p>
            <a:p>
              <a:pPr marL="266700" indent="-171450">
                <a:buFont typeface="Arial" panose="020B0604020202020204" pitchFamily="34" charset="0"/>
                <a:buChar char="•"/>
              </a:pPr>
              <a:r>
                <a:rPr lang="en-US" sz="670" dirty="0"/>
                <a:t>OTHER: &lt;classification4&gt;</a:t>
              </a:r>
            </a:p>
            <a:p>
              <a:pPr marL="228600" indent="-228600">
                <a:buFont typeface="+mj-lt"/>
                <a:buAutoNum type="arabicPeriod" startAt="3"/>
              </a:pPr>
              <a:r>
                <a:rPr lang="en-US" sz="670" dirty="0"/>
                <a:t>Group the differences based on classification categories for reporting.</a:t>
              </a:r>
            </a:p>
            <a:p>
              <a:pPr marL="228600" indent="-228600">
                <a:buFont typeface="+mj-lt"/>
                <a:buAutoNum type="arabicPeriod" startAt="3"/>
              </a:pPr>
              <a:r>
                <a:rPr lang="en-US" sz="670" dirty="0"/>
                <a:t>For KPI, Bar chart and PIE chart – Show discrepancies based of classification.</a:t>
              </a:r>
            </a:p>
            <a:p>
              <a:pPr marL="228600" indent="-228600">
                <a:buFont typeface="+mj-lt"/>
                <a:buAutoNum type="arabicPeriod" startAt="3"/>
              </a:pPr>
              <a:r>
                <a:rPr lang="en-US" sz="670" dirty="0"/>
                <a:t>For tabular grid – show all discrepancies based on classification</a:t>
              </a:r>
              <a:endParaRPr lang="en-US" dirty="0"/>
            </a:p>
            <a:p>
              <a:pPr marL="182563" indent="-182563">
                <a:lnSpc>
                  <a:spcPct val="150000"/>
                </a:lnSpc>
                <a:buFont typeface="+mj-lt"/>
                <a:buAutoNum type="arabicPeriod"/>
              </a:pPr>
              <a:endParaRPr lang="en-US" dirty="0"/>
            </a:p>
          </p:txBody>
        </p:sp>
      </p:grpSp>
      <p:sp>
        <p:nvSpPr>
          <p:cNvPr id="12" name="Arrow: Right 11">
            <a:extLst>
              <a:ext uri="{FF2B5EF4-FFF2-40B4-BE49-F238E27FC236}">
                <a16:creationId xmlns:a16="http://schemas.microsoft.com/office/drawing/2014/main" id="{DA79EDB9-04E6-C3AC-9AC1-89940FA288DE}"/>
              </a:ext>
            </a:extLst>
          </p:cNvPr>
          <p:cNvSpPr/>
          <p:nvPr/>
        </p:nvSpPr>
        <p:spPr>
          <a:xfrm>
            <a:off x="3836805" y="4135487"/>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F38583AE-BC59-1C27-E761-DF99E309F964}"/>
              </a:ext>
            </a:extLst>
          </p:cNvPr>
          <p:cNvSpPr txBox="1"/>
          <p:nvPr/>
        </p:nvSpPr>
        <p:spPr>
          <a:xfrm>
            <a:off x="385607" y="3079691"/>
            <a:ext cx="1175029" cy="215444"/>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TXT | XLS | CSV</a:t>
            </a:r>
          </a:p>
        </p:txBody>
      </p:sp>
    </p:spTree>
    <p:extLst>
      <p:ext uri="{BB962C8B-B14F-4D97-AF65-F5344CB8AC3E}">
        <p14:creationId xmlns:p14="http://schemas.microsoft.com/office/powerpoint/2010/main" val="131515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D33A-FAC1-DCA2-68A4-AD4FB7AD48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45F5C-2388-1DF3-E57D-F00ABB9A2BB6}"/>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BEGIN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1. Convert PDF to Markdown</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Parse the PDF and convert it to Markdown for textual and tabular Data.</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Save the Markdown text for further processing.</a:t>
            </a:r>
            <a:endParaRPr lang="en-GB" sz="1200" dirty="0">
              <a:latin typeface="Tahoma" panose="020B0604030504040204" pitchFamily="34" charset="0"/>
              <a:ea typeface="Tahoma" panose="020B0604030504040204" pitchFamily="34" charset="0"/>
              <a:cs typeface="Tahoma" panose="020B0604030504040204" pitchFamily="34" charset="0"/>
            </a:endParaRP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2. Process Each Parameter</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in the list:</a:t>
            </a:r>
          </a:p>
          <a:p>
            <a:pPr marL="622300" lvl="1">
              <a:spcAft>
                <a:spcPts val="500"/>
              </a:spcAft>
              <a:buFont typeface="+mj-lt"/>
              <a:buAutoNum type="alphaLcPeriod"/>
            </a:pPr>
            <a:r>
              <a:rPr lang="en-GB" sz="1050" dirty="0">
                <a:latin typeface="Tahoma" panose="020B0604030504040204" pitchFamily="34" charset="0"/>
                <a:ea typeface="Tahoma" panose="020B0604030504040204" pitchFamily="34" charset="0"/>
                <a:cs typeface="Tahoma" panose="020B0604030504040204" pitchFamily="34" charset="0"/>
              </a:rPr>
              <a:t> </a:t>
            </a:r>
            <a:r>
              <a:rPr lang="en-GB" sz="1000" dirty="0">
                <a:latin typeface="Tahoma" panose="020B0604030504040204" pitchFamily="34" charset="0"/>
                <a:ea typeface="Tahoma" panose="020B0604030504040204" pitchFamily="34" charset="0"/>
                <a:cs typeface="Tahoma" panose="020B0604030504040204" pitchFamily="34" charset="0"/>
              </a:rPr>
              <a:t>Read the Markdown text.</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Chunk the text into smaller sections.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Use embeddings to transform each chunk to a vector representation</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Store the vectorized chunks in a vector store.</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Identify relevant chunks by measuring context similarity between the parameter keywords and the stored vectors.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Refine the selected chunks by filtering out unrelated or redundant information.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3. Generate Rules Using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provide refined, contextually similar chunks along with rule generation guidelines to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The engine processes the input and produces structured validation rules .</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4. Save the Generated Rules</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Record the generated rules for each parameter in a results file.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Ensure that each parameter’s rules are clearly organized and stored.</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5. Finalize the Workflow</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Store into JSON, End the </a:t>
            </a:r>
            <a:r>
              <a:rPr lang="en-GB" sz="1200" dirty="0">
                <a:latin typeface="Tahoma" panose="020B0604030504040204" pitchFamily="34" charset="0"/>
                <a:ea typeface="Tahoma" panose="020B0604030504040204" pitchFamily="34" charset="0"/>
                <a:cs typeface="Tahoma" panose="020B0604030504040204" pitchFamily="34" charset="0"/>
              </a:rPr>
              <a:t>process.</a:t>
            </a:r>
          </a:p>
          <a:p>
            <a:pPr marL="0"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0E159F1A-1F0F-534B-F2CD-F99A1DF00D20}"/>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Box 13">
            <a:extLst>
              <a:ext uri="{FF2B5EF4-FFF2-40B4-BE49-F238E27FC236}">
                <a16:creationId xmlns:a16="http://schemas.microsoft.com/office/drawing/2014/main" id="{236C9AFE-3EC1-540B-BE4E-3694E7BA6C05}"/>
              </a:ext>
            </a:extLst>
          </p:cNvPr>
          <p:cNvSpPr txBox="1"/>
          <p:nvPr/>
        </p:nvSpPr>
        <p:spPr>
          <a:xfrm>
            <a:off x="5486400" y="422160"/>
            <a:ext cx="6144768" cy="369332"/>
          </a:xfrm>
          <a:prstGeom prst="rect">
            <a:avLst/>
          </a:prstGeom>
          <a:solidFill>
            <a:schemeClr val="tx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SYSTEM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D1351DEA-3172-CC5A-56CA-06DE9D6C52EE}"/>
              </a:ext>
            </a:extLst>
          </p:cNvPr>
          <p:cNvSpPr txBox="1"/>
          <p:nvPr/>
        </p:nvSpPr>
        <p:spPr>
          <a:xfrm>
            <a:off x="5486400" y="791492"/>
            <a:ext cx="6144768" cy="2146780"/>
          </a:xfrm>
          <a:prstGeom prst="rect">
            <a:avLst/>
          </a:prstGeom>
          <a:solidFill>
            <a:schemeClr val="tx2">
              <a:lumMod val="10000"/>
              <a:lumOff val="9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You are an expert in parsing financial protocol specifications and generating structured validation rules. Your task is to extract the most relevant details from the Protocol Specification to generate structured validation rules in JSON format for a given parameter. The extracted validation rules must align strictly with the context of the document and avoid hallucination.</a:t>
            </a:r>
          </a:p>
          <a:p>
            <a:r>
              <a:rPr lang="en-GB" sz="1100" dirty="0"/>
              <a:t> </a:t>
            </a:r>
          </a:p>
          <a:p>
            <a:r>
              <a:rPr lang="en-GB" sz="1100" dirty="0"/>
              <a:t>Guidelines for generating rules:</a:t>
            </a:r>
          </a:p>
          <a:p>
            <a:r>
              <a:rPr lang="en-GB" sz="1100" dirty="0"/>
              <a:t>- Only use fields that are applicable based on the parameter type.</a:t>
            </a:r>
          </a:p>
          <a:p>
            <a:r>
              <a:rPr lang="en-GB" sz="1100" dirty="0"/>
              <a:t>- Do not create rules that are not explicitly or logically inferable from the document.</a:t>
            </a:r>
          </a:p>
          <a:p>
            <a:r>
              <a:rPr lang="en-GB" sz="1100" dirty="0"/>
              <a:t>- Follow the expected JSON format strictly.</a:t>
            </a:r>
          </a:p>
          <a:p>
            <a:r>
              <a:rPr lang="en-GB" sz="1100" dirty="0"/>
              <a:t>- Include as many relevant rules as possible for the given parameter.</a:t>
            </a:r>
          </a:p>
          <a:p>
            <a:r>
              <a:rPr lang="en-GB" sz="1100" dirty="0"/>
              <a:t>- Ensure that constraints, relations, and formats are correctly aligned with the document's definitions.</a:t>
            </a:r>
          </a:p>
        </p:txBody>
      </p:sp>
      <p:sp>
        <p:nvSpPr>
          <p:cNvPr id="15" name="TextBox 14">
            <a:extLst>
              <a:ext uri="{FF2B5EF4-FFF2-40B4-BE49-F238E27FC236}">
                <a16:creationId xmlns:a16="http://schemas.microsoft.com/office/drawing/2014/main" id="{04AFB3DD-EAD8-6E39-0335-E8DB04A5D58B}"/>
              </a:ext>
            </a:extLst>
          </p:cNvPr>
          <p:cNvSpPr txBox="1"/>
          <p:nvPr/>
        </p:nvSpPr>
        <p:spPr>
          <a:xfrm>
            <a:off x="5486400" y="3122938"/>
            <a:ext cx="6144768" cy="369332"/>
          </a:xfrm>
          <a:prstGeom prst="rect">
            <a:avLst/>
          </a:prstGeom>
          <a:solidFill>
            <a:schemeClr val="accent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USER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1BE9300D-8751-A2FD-4F30-917C814205E8}"/>
              </a:ext>
            </a:extLst>
          </p:cNvPr>
          <p:cNvSpPr txBox="1"/>
          <p:nvPr/>
        </p:nvSpPr>
        <p:spPr>
          <a:xfrm>
            <a:off x="5486400" y="3492270"/>
            <a:ext cx="6144768" cy="3098804"/>
          </a:xfrm>
          <a:prstGeom prst="rect">
            <a:avLst/>
          </a:prstGeom>
          <a:solidFill>
            <a:schemeClr val="accent2">
              <a:lumMod val="20000"/>
              <a:lumOff val="8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Extract the definition of {fieldname} from provided context list items, pick relevant item (it has irrelevant data also). Each rule should include only relevant fields based on the parameter type. The following are possible fields but include only what applies to the given parameter type.</a:t>
            </a:r>
          </a:p>
          <a:p>
            <a:pPr marL="171450" indent="-171450">
              <a:buFont typeface="Arial" panose="020B0604020202020204" pitchFamily="34" charset="0"/>
              <a:buChar char="•"/>
            </a:pPr>
            <a:r>
              <a:rPr lang="en-GB" sz="1100" dirty="0"/>
              <a:t>Type: The type of validation (e.g., Date check, String check, Tolerance check, Threshold check).</a:t>
            </a:r>
          </a:p>
          <a:p>
            <a:pPr marL="171450" indent="-171450">
              <a:buFont typeface="Arial" panose="020B0604020202020204" pitchFamily="34" charset="0"/>
              <a:buChar char="•"/>
            </a:pPr>
            <a:r>
              <a:rPr lang="en-GB" sz="1100" dirty="0"/>
              <a:t>Rule Number: A unique identifier for the rule.</a:t>
            </a:r>
          </a:p>
          <a:p>
            <a:pPr marL="171450" indent="-171450">
              <a:buFont typeface="Arial" panose="020B0604020202020204" pitchFamily="34" charset="0"/>
              <a:buChar char="•"/>
            </a:pPr>
            <a:r>
              <a:rPr lang="en-GB" sz="1100" dirty="0"/>
              <a:t>Columns: The specific fields/parameters to which the rule applies.</a:t>
            </a:r>
          </a:p>
          <a:p>
            <a:pPr marL="171450" indent="-171450">
              <a:buFont typeface="Arial" panose="020B0604020202020204" pitchFamily="34" charset="0"/>
              <a:buChar char="•"/>
            </a:pPr>
            <a:r>
              <a:rPr lang="en-GB" sz="1100" dirty="0"/>
              <a:t>Description: A clear explanation of the validation logic and why it is necessary.</a:t>
            </a:r>
          </a:p>
          <a:p>
            <a:pPr marL="171450" indent="-171450">
              <a:buFont typeface="Arial" panose="020B0604020202020204" pitchFamily="34" charset="0"/>
              <a:buChar char="•"/>
            </a:pPr>
            <a:r>
              <a:rPr lang="en-GB" sz="1100" dirty="0"/>
              <a:t>Constraints: Include only for numerical values (e.g., min, max).</a:t>
            </a:r>
          </a:p>
          <a:p>
            <a:pPr marL="171450" indent="-171450">
              <a:buFont typeface="Arial" panose="020B0604020202020204" pitchFamily="34" charset="0"/>
              <a:buChar char="•"/>
            </a:pPr>
            <a:r>
              <a:rPr lang="en-GB" sz="1100" dirty="0"/>
              <a:t>Format: Required format (e.g., Integer, String, Array, Object, etc).</a:t>
            </a:r>
          </a:p>
          <a:p>
            <a:pPr marL="171450" indent="-171450">
              <a:buFont typeface="Arial" panose="020B0604020202020204" pitchFamily="34" charset="0"/>
              <a:buChar char="•"/>
            </a:pPr>
            <a:r>
              <a:rPr lang="en-GB" sz="1100" dirty="0"/>
              <a:t>Relations: Only applicable if the parameter has dependencies (e.g., marketId must exist if ExchangeId is present).</a:t>
            </a:r>
          </a:p>
          <a:p>
            <a:pPr marL="171450" indent="-171450">
              <a:buFont typeface="Arial" panose="020B0604020202020204" pitchFamily="34" charset="0"/>
              <a:buChar char="•"/>
            </a:pPr>
            <a:r>
              <a:rPr lang="en-GB" sz="1100" dirty="0"/>
              <a:t>Valid values: Include only if the parameter has predefined acceptable values (e.g., option types).</a:t>
            </a:r>
          </a:p>
          <a:p>
            <a:pPr marL="171450" indent="-171450">
              <a:buFont typeface="Arial" panose="020B0604020202020204" pitchFamily="34" charset="0"/>
              <a:buChar char="•"/>
            </a:pPr>
            <a:r>
              <a:rPr lang="en-GB" sz="1100" dirty="0"/>
              <a:t>Default value: Specify only if the field has a predefined default.</a:t>
            </a:r>
          </a:p>
          <a:p>
            <a:pPr marL="171450" indent="-171450">
              <a:buFont typeface="Arial" panose="020B0604020202020204" pitchFamily="34" charset="0"/>
              <a:buChar char="•"/>
            </a:pPr>
            <a:r>
              <a:rPr lang="en-GB" sz="1100" dirty="0"/>
              <a:t>Classification: MIN, MAX, MIN_MAX Only applicable for numerical comparisons (e.g., price, market cap) and for rest it is OTHER.</a:t>
            </a:r>
          </a:p>
          <a:p>
            <a:pPr marL="171450" indent="-171450">
              <a:buFont typeface="Arial" panose="020B0604020202020204" pitchFamily="34" charset="0"/>
              <a:buChar char="•"/>
            </a:pPr>
            <a:r>
              <a:rPr lang="en-GB" sz="1100" dirty="0"/>
              <a:t>Exclusions: Conditions under which this rule should not be enforced.</a:t>
            </a:r>
          </a:p>
        </p:txBody>
      </p:sp>
    </p:spTree>
    <p:extLst>
      <p:ext uri="{BB962C8B-B14F-4D97-AF65-F5344CB8AC3E}">
        <p14:creationId xmlns:p14="http://schemas.microsoft.com/office/powerpoint/2010/main" val="332106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E65E-D90C-E67A-8960-392A0CAC05A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12B8A2A-916F-A871-8553-EBF2640723FC}"/>
              </a:ext>
            </a:extLst>
          </p:cNvPr>
          <p:cNvGrpSpPr/>
          <p:nvPr/>
        </p:nvGrpSpPr>
        <p:grpSpPr>
          <a:xfrm>
            <a:off x="390143" y="1923393"/>
            <a:ext cx="11314177" cy="4667679"/>
            <a:chOff x="390143" y="409968"/>
            <a:chExt cx="11314177" cy="6181105"/>
          </a:xfrm>
        </p:grpSpPr>
        <p:sp>
          <p:nvSpPr>
            <p:cNvPr id="8" name="TextBox 7">
              <a:extLst>
                <a:ext uri="{FF2B5EF4-FFF2-40B4-BE49-F238E27FC236}">
                  <a16:creationId xmlns:a16="http://schemas.microsoft.com/office/drawing/2014/main" id="{9A2BB548-EAD1-CCB5-7C57-EC59FA6A9981}"/>
                </a:ext>
              </a:extLst>
            </p:cNvPr>
            <p:cNvSpPr txBox="1"/>
            <p:nvPr/>
          </p:nvSpPr>
          <p:spPr>
            <a:xfrm>
              <a:off x="390143" y="774096"/>
              <a:ext cx="5506159"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    METHOD run_comparison(baseline_file, candidate_file, file_type, filters):</a:t>
              </a:r>
            </a:p>
            <a:p>
              <a:pPr>
                <a:spcAft>
                  <a:spcPts val="300"/>
                </a:spcAft>
              </a:pPr>
              <a:r>
                <a:rPr lang="en-US" sz="800" dirty="0">
                  <a:ea typeface="Tahoma" panose="020B0604030504040204" pitchFamily="34" charset="0"/>
                  <a:cs typeface="Tahoma" panose="020B0604030504040204" pitchFamily="34" charset="0"/>
                </a:rPr>
                <a:t>        CALL read_file()</a:t>
              </a:r>
            </a:p>
            <a:p>
              <a:pPr>
                <a:spcAft>
                  <a:spcPts val="300"/>
                </a:spcAft>
              </a:pPr>
              <a:r>
                <a:rPr lang="en-US" sz="800" dirty="0">
                  <a:ea typeface="Tahoma" panose="020B0604030504040204" pitchFamily="34" charset="0"/>
                  <a:cs typeface="Tahoma" panose="020B0604030504040204" pitchFamily="34" charset="0"/>
                </a:rPr>
                <a:t>        CALL compare_files()</a:t>
              </a:r>
            </a:p>
            <a:p>
              <a:pPr>
                <a:spcAft>
                  <a:spcPts val="300"/>
                </a:spcAft>
              </a:pPr>
              <a:r>
                <a:rPr lang="en-US" sz="800" dirty="0">
                  <a:ea typeface="Tahoma" panose="020B0604030504040204" pitchFamily="34" charset="0"/>
                  <a:cs typeface="Tahoma" panose="020B0604030504040204" pitchFamily="34" charset="0"/>
                </a:rPr>
                <a:t>        RETURN results</a:t>
              </a:r>
            </a:p>
            <a:p>
              <a:pPr indent="-274637">
                <a:spcAft>
                  <a:spcPts val="500"/>
                </a:spcAft>
              </a:pPr>
              <a:r>
                <a:rPr lang="en-US" sz="800" dirty="0">
                  <a:ea typeface="Tahoma" panose="020B0604030504040204" pitchFamily="34" charset="0"/>
                  <a:cs typeface="Tahoma" panose="020B0604030504040204" pitchFamily="34" charset="0"/>
                </a:rPr>
                <a:t># Read various file formats (TXT, CSV, JSON, Excel, LOG, etc.)</a:t>
              </a:r>
            </a:p>
            <a:p>
              <a:pPr indent="-274637">
                <a:spcAft>
                  <a:spcPts val="500"/>
                </a:spcAft>
              </a:pPr>
              <a:r>
                <a:rPr lang="en-US" sz="800" dirty="0">
                  <a:ea typeface="Tahoma" panose="020B0604030504040204" pitchFamily="34" charset="0"/>
                  <a:cs typeface="Tahoma" panose="020B0604030504040204" pitchFamily="34" charset="0"/>
                </a:rPr>
                <a:t>    METHOD read_file(file, file_type, chunk_size):</a:t>
              </a:r>
            </a:p>
            <a:p>
              <a:pPr indent="-274637">
                <a:spcAft>
                  <a:spcPts val="500"/>
                </a:spcAft>
              </a:pPr>
              <a:r>
                <a:rPr lang="en-US" sz="800" dirty="0">
                  <a:ea typeface="Tahoma" panose="020B0604030504040204" pitchFamily="34" charset="0"/>
                  <a:cs typeface="Tahoma" panose="020B0604030504040204" pitchFamily="34" charset="0"/>
                </a:rPr>
                <a:t>        DETECT file type and CALL appropriate reading method like read_dd_file(), read_excel_file(), etc</a:t>
              </a:r>
            </a:p>
            <a:p>
              <a:pPr indent="-274637">
                <a:spcAft>
                  <a:spcPts val="500"/>
                </a:spcAft>
              </a:pPr>
              <a:r>
                <a:rPr lang="en-US" sz="800" dirty="0">
                  <a:ea typeface="Tahoma" panose="020B0604030504040204" pitchFamily="34" charset="0"/>
                  <a:cs typeface="Tahoma" panose="020B0604030504040204" pitchFamily="34" charset="0"/>
                </a:rPr>
                <a:t>        RETURN DataFrame</a:t>
              </a:r>
            </a:p>
            <a:p>
              <a:pPr indent="-274637">
                <a:spcAft>
                  <a:spcPts val="500"/>
                </a:spcAft>
              </a:pPr>
              <a:r>
                <a:rPr lang="en-US" sz="800" dirty="0">
                  <a:ea typeface="Tahoma" panose="020B0604030504040204" pitchFamily="34" charset="0"/>
                  <a:cs typeface="Tahoma" panose="020B0604030504040204" pitchFamily="34" charset="0"/>
                </a:rPr>
                <a:t># Read and process structured DD files</a:t>
              </a:r>
            </a:p>
            <a:p>
              <a:pPr indent="-274637">
                <a:spcAft>
                  <a:spcPts val="500"/>
                </a:spcAft>
              </a:pPr>
              <a:r>
                <a:rPr lang="en-US" sz="800" dirty="0">
                  <a:ea typeface="Tahoma" panose="020B0604030504040204" pitchFamily="34" charset="0"/>
                  <a:cs typeface="Tahoma" panose="020B0604030504040204" pitchFamily="34" charset="0"/>
                </a:rPr>
                <a:t>    METHOD read_dd_file(file, chunk_size):</a:t>
              </a:r>
            </a:p>
            <a:p>
              <a:pPr indent="-274637">
                <a:spcAft>
                  <a:spcPts val="500"/>
                </a:spcAft>
              </a:pPr>
              <a:r>
                <a:rPr lang="en-US" sz="800" dirty="0">
                  <a:ea typeface="Tahoma" panose="020B0604030504040204" pitchFamily="34" charset="0"/>
                  <a:cs typeface="Tahoma" panose="020B0604030504040204" pitchFamily="34" charset="0"/>
                </a:rPr>
                <a:t>        PARSE nested objects and arrays line-by-line</a:t>
              </a:r>
            </a:p>
            <a:p>
              <a:pPr indent="-274637">
                <a:spcAft>
                  <a:spcPts val="500"/>
                </a:spcAft>
              </a:pPr>
              <a:r>
                <a:rPr lang="en-US" sz="800" dirty="0">
                  <a:ea typeface="Tahoma" panose="020B0604030504040204" pitchFamily="34" charset="0"/>
                  <a:cs typeface="Tahoma" panose="020B0604030504040204" pitchFamily="34" charset="0"/>
                </a:rPr>
                <a:t>        YIELD DataFrame chunks for efficiency</a:t>
              </a:r>
            </a:p>
            <a:p>
              <a:pPr indent="-274637">
                <a:spcAft>
                  <a:spcPts val="500"/>
                </a:spcAft>
              </a:pPr>
              <a:r>
                <a:rPr lang="en-US" sz="800" dirty="0">
                  <a:ea typeface="Tahoma" panose="020B0604030504040204" pitchFamily="34" charset="0"/>
                  <a:cs typeface="Tahoma" panose="020B0604030504040204" pitchFamily="34" charset="0"/>
                </a:rPr>
                <a:t>        RETURN processed data</a:t>
              </a:r>
            </a:p>
            <a:p>
              <a:pPr indent="-274637">
                <a:spcAft>
                  <a:spcPts val="500"/>
                </a:spcAft>
              </a:pPr>
              <a:r>
                <a:rPr lang="en-US" sz="800" dirty="0">
                  <a:ea typeface="Tahoma" panose="020B0604030504040204" pitchFamily="34" charset="0"/>
                  <a:cs typeface="Tahoma" panose="020B0604030504040204" pitchFamily="34" charset="0"/>
                </a:rPr>
                <a:t># Compare baseline and candidate data for differences</a:t>
              </a:r>
            </a:p>
            <a:p>
              <a:pPr indent="-274637">
                <a:spcAft>
                  <a:spcPts val="500"/>
                </a:spcAft>
              </a:pPr>
              <a:r>
                <a:rPr lang="en-US" sz="800" dirty="0">
                  <a:ea typeface="Tahoma" panose="020B0604030504040204" pitchFamily="34" charset="0"/>
                  <a:cs typeface="Tahoma" panose="020B0604030504040204" pitchFamily="34" charset="0"/>
                </a:rPr>
                <a:t>    METHOD compare_files(df_baseline, df_candidate, file_type, filters):</a:t>
              </a:r>
            </a:p>
            <a:p>
              <a:pPr indent="-274637">
                <a:spcAft>
                  <a:spcPts val="500"/>
                </a:spcAft>
              </a:pPr>
              <a:r>
                <a:rPr lang="en-US" sz="800" dirty="0">
                  <a:ea typeface="Tahoma" panose="020B0604030504040204" pitchFamily="34" charset="0"/>
                  <a:cs typeface="Tahoma" panose="020B0604030504040204" pitchFamily="34" charset="0"/>
                </a:rPr>
                <a:t>        STANDARDIZE column names</a:t>
              </a:r>
            </a:p>
            <a:p>
              <a:pPr indent="-274637">
                <a:spcAft>
                  <a:spcPts val="500"/>
                </a:spcAft>
              </a:pPr>
              <a:r>
                <a:rPr lang="en-US" sz="800" dirty="0">
                  <a:ea typeface="Tahoma" panose="020B0604030504040204" pitchFamily="34" charset="0"/>
                  <a:cs typeface="Tahoma" panose="020B0604030504040204" pitchFamily="34" charset="0"/>
                </a:rPr>
                <a:t>        IDENTIFY missing rows with missing_row_baseline() and missing_row_candidate()</a:t>
              </a:r>
            </a:p>
            <a:p>
              <a:pPr indent="-274637">
                <a:spcAft>
                  <a:spcPts val="500"/>
                </a:spcAft>
              </a:pPr>
              <a:r>
                <a:rPr lang="en-US" sz="800" dirty="0">
                  <a:ea typeface="Tahoma" panose="020B0604030504040204" pitchFamily="34" charset="0"/>
                  <a:cs typeface="Tahoma" panose="020B0604030504040204" pitchFamily="34" charset="0"/>
                </a:rPr>
                <a:t>        COLLECT Differences</a:t>
              </a:r>
            </a:p>
            <a:p>
              <a:pPr indent="-274637">
                <a:spcAft>
                  <a:spcPts val="500"/>
                </a:spcAft>
              </a:pPr>
              <a:r>
                <a:rPr lang="en-US" sz="800" dirty="0">
                  <a:ea typeface="Tahoma" panose="020B0604030504040204" pitchFamily="34" charset="0"/>
                  <a:cs typeface="Tahoma" panose="020B0604030504040204" pitchFamily="34" charset="0"/>
                </a:rPr>
                <a:t>        RETURN discrepancies</a:t>
              </a:r>
            </a:p>
            <a:p>
              <a:pPr indent="-274637">
                <a:spcAft>
                  <a:spcPts val="500"/>
                </a:spcAft>
              </a:pPr>
              <a:r>
                <a:rPr lang="en-US" sz="800" dirty="0">
                  <a:ea typeface="Tahoma" panose="020B0604030504040204" pitchFamily="34" charset="0"/>
                  <a:cs typeface="Tahoma" panose="020B0604030504040204" pitchFamily="34" charset="0"/>
                </a:rPr>
                <a:t># Identify missing rows in baseline and candidate</a:t>
              </a:r>
            </a:p>
            <a:p>
              <a:pPr indent="-274637">
                <a:spcAft>
                  <a:spcPts val="500"/>
                </a:spcAft>
              </a:pPr>
              <a:r>
                <a:rPr lang="en-US" sz="800" dirty="0">
                  <a:ea typeface="Tahoma" panose="020B0604030504040204" pitchFamily="34" charset="0"/>
                  <a:cs typeface="Tahoma" panose="020B0604030504040204" pitchFamily="34" charset="0"/>
                </a:rPr>
                <a:t>    METHOD missing_row_baseline(discrepancies, extra_rows_candidate, key_column):</a:t>
              </a:r>
            </a:p>
            <a:p>
              <a:pPr indent="-274637">
                <a:spcAft>
                  <a:spcPts val="500"/>
                </a:spcAft>
              </a:pPr>
              <a:r>
                <a:rPr lang="en-US" sz="800" dirty="0">
                  <a:ea typeface="Tahoma" panose="020B0604030504040204" pitchFamily="34" charset="0"/>
                  <a:cs typeface="Tahoma" panose="020B0604030504040204" pitchFamily="34" charset="0"/>
                </a:rPr>
                <a:t>        RECORD missing rows in baseline</a:t>
              </a:r>
            </a:p>
            <a:p>
              <a:pPr indent="-274637">
                <a:spcAft>
                  <a:spcPts val="500"/>
                </a:spcAft>
              </a:pPr>
              <a:r>
                <a:rPr lang="en-US" sz="800" dirty="0">
                  <a:ea typeface="Tahoma" panose="020B0604030504040204" pitchFamily="34" charset="0"/>
                  <a:cs typeface="Tahoma" panose="020B0604030504040204" pitchFamily="34" charset="0"/>
                </a:rPr>
                <a:t>    METHOD missing_row_candidate(discrepancies, extra_rows_baseline, key_column):</a:t>
              </a:r>
            </a:p>
            <a:p>
              <a:pPr indent="-274637">
                <a:spcAft>
                  <a:spcPts val="500"/>
                </a:spcAft>
              </a:pPr>
              <a:r>
                <a:rPr lang="en-US" sz="800" dirty="0">
                  <a:ea typeface="Tahoma" panose="020B0604030504040204" pitchFamily="34" charset="0"/>
                  <a:cs typeface="Tahoma" panose="020B0604030504040204" pitchFamily="34" charset="0"/>
                </a:rPr>
                <a:t>        RECORD missing rows in candidate</a:t>
              </a:r>
              <a:endParaRPr lang="en-GB" sz="800" dirty="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FC559F8B-E872-7FD4-FE71-9875A95A45CE}"/>
                </a:ext>
              </a:extLst>
            </p:cNvPr>
            <p:cNvSpPr txBox="1"/>
            <p:nvPr/>
          </p:nvSpPr>
          <p:spPr>
            <a:xfrm>
              <a:off x="390143" y="409968"/>
              <a:ext cx="5506157"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Validator</a:t>
              </a:r>
              <a:endParaRPr lang="en-GB" sz="1100" dirty="0">
                <a:solidFill>
                  <a:schemeClr val="bg1"/>
                </a:solidFill>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0035CE20-32A9-C44D-168F-228303C1319F}"/>
                </a:ext>
              </a:extLst>
            </p:cNvPr>
            <p:cNvSpPr txBox="1"/>
            <p:nvPr/>
          </p:nvSpPr>
          <p:spPr>
            <a:xfrm>
              <a:off x="6295700" y="774096"/>
              <a:ext cx="5408620"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BEGIN</a:t>
              </a:r>
            </a:p>
            <a:p>
              <a:pPr>
                <a:spcAft>
                  <a:spcPts val="300"/>
                </a:spcAft>
              </a:pPr>
              <a:r>
                <a:rPr lang="en-US" sz="800" dirty="0">
                  <a:ea typeface="Tahoma" panose="020B0604030504040204" pitchFamily="34" charset="0"/>
                  <a:cs typeface="Tahoma" panose="020B0604030504040204" pitchFamily="34" charset="0"/>
                </a:rPr>
                <a:t># Validate array differences</a:t>
              </a:r>
            </a:p>
            <a:p>
              <a:pPr>
                <a:spcAft>
                  <a:spcPts val="300"/>
                </a:spcAft>
              </a:pPr>
              <a:r>
                <a:rPr lang="en-US" sz="800" dirty="0">
                  <a:ea typeface="Tahoma" panose="020B0604030504040204" pitchFamily="34" charset="0"/>
                  <a:cs typeface="Tahoma" panose="020B0604030504040204" pitchFamily="34" charset="0"/>
                </a:rPr>
                <a:t>    METHOD get_arrays_rules(df_merged, discrepancies, key_column, array_rule_key):</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 	</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Apply validation rules for all columns</a:t>
              </a:r>
            </a:p>
            <a:p>
              <a:pPr>
                <a:spcAft>
                  <a:spcPts val="300"/>
                </a:spcAft>
              </a:pPr>
              <a:r>
                <a:rPr lang="en-US" sz="800" dirty="0">
                  <a:ea typeface="Tahoma" panose="020B0604030504040204" pitchFamily="34" charset="0"/>
                  <a:cs typeface="Tahoma" panose="020B0604030504040204" pitchFamily="34" charset="0"/>
                </a:rPr>
                <a:t>    METHOD extract_discrepancy(df_merged, discrepancies, filters, key_column):</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Generate final discrepancy report</a:t>
              </a:r>
            </a:p>
            <a:p>
              <a:pPr>
                <a:spcAft>
                  <a:spcPts val="300"/>
                </a:spcAft>
              </a:pPr>
              <a:r>
                <a:rPr lang="en-US" sz="800" dirty="0">
                  <a:ea typeface="Tahoma" panose="020B0604030504040204" pitchFamily="34" charset="0"/>
                  <a:cs typeface="Tahoma" panose="020B0604030504040204" pitchFamily="34" charset="0"/>
                </a:rPr>
                <a:t>    METHOD final_discrepancy_list(df_merged, discrepancies, key_column, rule_number, rule_type, rule_description, col, col_baseline, col_candidate):</a:t>
              </a:r>
            </a:p>
            <a:p>
              <a:pPr>
                <a:spcAft>
                  <a:spcPts val="300"/>
                </a:spcAft>
              </a:pPr>
              <a:r>
                <a:rPr lang="en-US" sz="800" dirty="0">
                  <a:ea typeface="Tahoma" panose="020B0604030504040204" pitchFamily="34" charset="0"/>
                  <a:cs typeface="Tahoma" panose="020B0604030504040204" pitchFamily="34" charset="0"/>
                </a:rPr>
                <a:t>        APPEND mismatched records to discrepancies list</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Save comparison results - FOR CLI and API</a:t>
              </a:r>
            </a:p>
            <a:p>
              <a:pPr>
                <a:spcAft>
                  <a:spcPts val="300"/>
                </a:spcAft>
              </a:pPr>
              <a:r>
                <a:rPr lang="en-US" sz="800" dirty="0">
                  <a:ea typeface="Tahoma" panose="020B0604030504040204" pitchFamily="34" charset="0"/>
                  <a:cs typeface="Tahoma" panose="020B0604030504040204" pitchFamily="34" charset="0"/>
                </a:rPr>
                <a:t>    METHOD save_results(results, output_path, format):</a:t>
              </a:r>
            </a:p>
            <a:p>
              <a:pPr>
                <a:spcAft>
                  <a:spcPts val="300"/>
                </a:spcAft>
              </a:pPr>
              <a:r>
                <a:rPr lang="en-US" sz="800" dirty="0">
                  <a:ea typeface="Tahoma" panose="020B0604030504040204" pitchFamily="34" charset="0"/>
                  <a:cs typeface="Tahoma" panose="020B0604030504040204" pitchFamily="34" charset="0"/>
                </a:rPr>
                <a:t>        IF format is CSV, JSON, or Excel:</a:t>
              </a:r>
            </a:p>
            <a:p>
              <a:pPr>
                <a:spcAft>
                  <a:spcPts val="300"/>
                </a:spcAft>
              </a:pPr>
              <a:r>
                <a:rPr lang="en-US" sz="800" dirty="0">
                  <a:ea typeface="Tahoma" panose="020B0604030504040204" pitchFamily="34" charset="0"/>
                  <a:cs typeface="Tahoma" panose="020B0604030504040204" pitchFamily="34" charset="0"/>
                </a:rPr>
                <a:t>            SAVE results in the respective format</a:t>
              </a:r>
            </a:p>
            <a:p>
              <a:pPr>
                <a:spcAft>
                  <a:spcPts val="300"/>
                </a:spcAft>
              </a:pPr>
              <a:r>
                <a:rPr lang="en-US" sz="800" dirty="0">
                  <a:ea typeface="Tahoma" panose="020B0604030504040204" pitchFamily="34" charset="0"/>
                  <a:cs typeface="Tahoma" panose="020B0604030504040204" pitchFamily="34" charset="0"/>
                </a:rPr>
                <a:t>        PRINT confirmation message</a:t>
              </a:r>
            </a:p>
            <a:p>
              <a:pPr>
                <a:spcAft>
                  <a:spcPts val="300"/>
                </a:spcAft>
              </a:pPr>
              <a:r>
                <a:rPr lang="en-US" sz="800" dirty="0">
                  <a:ea typeface="Tahoma" panose="020B0604030504040204" pitchFamily="34" charset="0"/>
                  <a:cs typeface="Tahoma" panose="020B0604030504040204" pitchFamily="34" charset="0"/>
                </a:rPr>
                <a:t>END</a:t>
              </a:r>
            </a:p>
          </p:txBody>
        </p:sp>
        <p:sp>
          <p:nvSpPr>
            <p:cNvPr id="11" name="TextBox 10">
              <a:extLst>
                <a:ext uri="{FF2B5EF4-FFF2-40B4-BE49-F238E27FC236}">
                  <a16:creationId xmlns:a16="http://schemas.microsoft.com/office/drawing/2014/main" id="{A5CD3D6F-15C6-C83E-A8BE-4FF44DCA8AD9}"/>
                </a:ext>
              </a:extLst>
            </p:cNvPr>
            <p:cNvSpPr txBox="1"/>
            <p:nvPr/>
          </p:nvSpPr>
          <p:spPr>
            <a:xfrm>
              <a:off x="6295700" y="409968"/>
              <a:ext cx="5408620"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Reconciliation</a:t>
              </a:r>
              <a:endParaRPr lang="en-GB" sz="1100" dirty="0">
                <a:solidFill>
                  <a:schemeClr val="bg1"/>
                </a:solidFill>
                <a:ea typeface="Tahoma" panose="020B0604030504040204" pitchFamily="34" charset="0"/>
                <a:cs typeface="Tahoma" panose="020B0604030504040204" pitchFamily="34" charset="0"/>
              </a:endParaRPr>
            </a:p>
          </p:txBody>
        </p:sp>
      </p:grpSp>
      <p:pic>
        <p:nvPicPr>
          <p:cNvPr id="20" name="Picture 19" descr="A diagram of a diagram&#10;&#10;AI-generated content may be incorrect.">
            <a:extLst>
              <a:ext uri="{FF2B5EF4-FFF2-40B4-BE49-F238E27FC236}">
                <a16:creationId xmlns:a16="http://schemas.microsoft.com/office/drawing/2014/main" id="{E1738774-303C-2447-0566-3A24C304D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751"/>
            <a:ext cx="12192000" cy="1816642"/>
          </a:xfrm>
          <a:prstGeom prst="rect">
            <a:avLst/>
          </a:prstGeom>
        </p:spPr>
      </p:pic>
    </p:spTree>
    <p:extLst>
      <p:ext uri="{BB962C8B-B14F-4D97-AF65-F5344CB8AC3E}">
        <p14:creationId xmlns:p14="http://schemas.microsoft.com/office/powerpoint/2010/main" val="4100353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036875B-8DFA-97BF-6C9D-2D671D9C3E7C}"/>
              </a:ext>
            </a:extLst>
          </p:cNvPr>
          <p:cNvSpPr/>
          <p:nvPr/>
        </p:nvSpPr>
        <p:spPr>
          <a:xfrm>
            <a:off x="463639" y="283335"/>
            <a:ext cx="5254581" cy="192217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5" name="TextBox 4">
            <a:extLst>
              <a:ext uri="{FF2B5EF4-FFF2-40B4-BE49-F238E27FC236}">
                <a16:creationId xmlns:a16="http://schemas.microsoft.com/office/drawing/2014/main" id="{E683BC41-262B-3CD1-3AD8-94D254403624}"/>
              </a:ext>
            </a:extLst>
          </p:cNvPr>
          <p:cNvSpPr txBox="1"/>
          <p:nvPr/>
        </p:nvSpPr>
        <p:spPr>
          <a:xfrm>
            <a:off x="391193" y="2436339"/>
            <a:ext cx="5327025" cy="2139047"/>
          </a:xfrm>
          <a:prstGeom prst="rect">
            <a:avLst/>
          </a:prstGeom>
          <a:noFill/>
        </p:spPr>
        <p:txBody>
          <a:bodyPr wrap="square">
            <a:spAutoFit/>
          </a:bodyPr>
          <a:lstStyle/>
          <a:p>
            <a:pPr algn="l">
              <a:spcAft>
                <a:spcPts val="600"/>
              </a:spcAft>
            </a:pPr>
            <a:r>
              <a:rPr lang="en-GB" sz="1400" b="1" i="0" dirty="0">
                <a:solidFill>
                  <a:srgbClr val="000000"/>
                </a:solidFill>
                <a:effectLst/>
              </a:rPr>
              <a:t>Key Features</a:t>
            </a:r>
          </a:p>
          <a:p>
            <a:pPr algn="l">
              <a:spcAft>
                <a:spcPts val="600"/>
              </a:spcAft>
            </a:pPr>
            <a:r>
              <a:rPr lang="en-GB" sz="1200" b="0" i="0" dirty="0">
                <a:solidFill>
                  <a:srgbClr val="000000"/>
                </a:solidFill>
                <a:effectLst/>
              </a:rPr>
              <a:t>✅ Supports structured/unstructured data (Excel, CSV, JSON, TXT)</a:t>
            </a:r>
          </a:p>
          <a:p>
            <a:pPr algn="l">
              <a:spcAft>
                <a:spcPts val="600"/>
              </a:spcAft>
            </a:pPr>
            <a:r>
              <a:rPr lang="en-GB" sz="1200" b="0" i="0" dirty="0">
                <a:solidFill>
                  <a:srgbClr val="000000"/>
                </a:solidFill>
                <a:effectLst/>
              </a:rPr>
              <a:t>✅ Automated key-value pair discrepancy detection</a:t>
            </a:r>
          </a:p>
          <a:p>
            <a:pPr algn="l">
              <a:spcAft>
                <a:spcPts val="600"/>
              </a:spcAft>
            </a:pPr>
            <a:r>
              <a:rPr lang="en-GB" sz="1200" b="0" i="0" dirty="0">
                <a:solidFill>
                  <a:srgbClr val="000000"/>
                </a:solidFill>
                <a:effectLst/>
              </a:rPr>
              <a:t>✅ Dynamic rule-based classification using Rule Config file</a:t>
            </a:r>
          </a:p>
          <a:p>
            <a:pPr algn="l">
              <a:spcAft>
                <a:spcPts val="600"/>
              </a:spcAft>
            </a:pPr>
            <a:r>
              <a:rPr lang="en-GB" sz="1200" b="0" i="0" dirty="0">
                <a:solidFill>
                  <a:srgbClr val="000000"/>
                </a:solidFill>
                <a:effectLst/>
              </a:rPr>
              <a:t>✅ Cross-platform compatibility (Windows, macOS, Linux)</a:t>
            </a:r>
          </a:p>
          <a:p>
            <a:pPr algn="l">
              <a:spcAft>
                <a:spcPts val="600"/>
              </a:spcAft>
            </a:pPr>
            <a:r>
              <a:rPr lang="en-GB" sz="1200" b="0" i="0" dirty="0">
                <a:solidFill>
                  <a:srgbClr val="000000"/>
                </a:solidFill>
                <a:effectLst/>
              </a:rPr>
              <a:t>✅ Operates via CLI &amp; API</a:t>
            </a:r>
          </a:p>
          <a:p>
            <a:pPr algn="l">
              <a:spcAft>
                <a:spcPts val="600"/>
              </a:spcAft>
            </a:pPr>
            <a:r>
              <a:rPr lang="en-GB" sz="1200" b="0" i="0" dirty="0">
                <a:solidFill>
                  <a:srgbClr val="000000"/>
                </a:solidFill>
                <a:effectLst/>
              </a:rPr>
              <a:t>✅ Generates detailed reports (CSV, JSON, XLSX)</a:t>
            </a:r>
          </a:p>
          <a:p>
            <a:pPr algn="l">
              <a:spcAft>
                <a:spcPts val="600"/>
              </a:spcAft>
            </a:pPr>
            <a:r>
              <a:rPr lang="en-GB" sz="1200" b="0" i="0" dirty="0">
                <a:solidFill>
                  <a:srgbClr val="000000"/>
                </a:solidFill>
                <a:effectLst/>
              </a:rPr>
              <a:t>✅ </a:t>
            </a:r>
            <a:r>
              <a:rPr lang="en-GB" sz="1200" dirty="0">
                <a:solidFill>
                  <a:srgbClr val="000000"/>
                </a:solidFill>
              </a:rPr>
              <a:t>Create Defects in JIRA (Out of Scope)</a:t>
            </a:r>
            <a:endParaRPr lang="en-GB" sz="1200" b="0" i="0" dirty="0">
              <a:solidFill>
                <a:srgbClr val="000000"/>
              </a:solidFill>
              <a:effectLst/>
            </a:endParaRPr>
          </a:p>
        </p:txBody>
      </p:sp>
      <p:sp>
        <p:nvSpPr>
          <p:cNvPr id="8" name="TextBox 7">
            <a:extLst>
              <a:ext uri="{FF2B5EF4-FFF2-40B4-BE49-F238E27FC236}">
                <a16:creationId xmlns:a16="http://schemas.microsoft.com/office/drawing/2014/main" id="{5143DEE5-8D43-3003-DA08-207E0A20264E}"/>
              </a:ext>
            </a:extLst>
          </p:cNvPr>
          <p:cNvSpPr txBox="1"/>
          <p:nvPr/>
        </p:nvSpPr>
        <p:spPr>
          <a:xfrm>
            <a:off x="6568227" y="2370568"/>
            <a:ext cx="4655180" cy="3708708"/>
          </a:xfrm>
          <a:prstGeom prst="rect">
            <a:avLst/>
          </a:prstGeom>
          <a:noFill/>
        </p:spPr>
        <p:txBody>
          <a:bodyPr wrap="square">
            <a:spAutoFit/>
          </a:bodyPr>
          <a:lstStyle/>
          <a:p>
            <a:pPr>
              <a:spcAft>
                <a:spcPts val="600"/>
              </a:spcAft>
            </a:pPr>
            <a:r>
              <a:rPr lang="en-GB" sz="1100" dirty="0"/>
              <a:t>📂 </a:t>
            </a:r>
            <a:r>
              <a:rPr lang="en-GB" sz="1100" b="1" dirty="0"/>
              <a:t>Directory Structure</a:t>
            </a:r>
          </a:p>
          <a:p>
            <a:pPr>
              <a:spcAft>
                <a:spcPts val="600"/>
              </a:spcAft>
            </a:pPr>
            <a:r>
              <a:rPr lang="en-GB" sz="1100" dirty="0"/>
              <a:t>├── src</a:t>
            </a:r>
          </a:p>
          <a:p>
            <a:pPr>
              <a:spcAft>
                <a:spcPts val="600"/>
              </a:spcAft>
            </a:pPr>
            <a:r>
              <a:rPr lang="en-GB" sz="1100" dirty="0"/>
              <a:t>│   ├── api.py                 # API Layer (FastAPI)</a:t>
            </a:r>
          </a:p>
          <a:p>
            <a:pPr>
              <a:spcAft>
                <a:spcPts val="600"/>
              </a:spcAft>
            </a:pPr>
            <a:r>
              <a:rPr lang="en-GB" sz="1100" dirty="0"/>
              <a:t>│   ├── app.py                 # Streamlit UI</a:t>
            </a:r>
          </a:p>
          <a:p>
            <a:pPr>
              <a:spcAft>
                <a:spcPts val="600"/>
              </a:spcAft>
            </a:pPr>
            <a:r>
              <a:rPr lang="en-GB" sz="1100" dirty="0"/>
              <a:t>│   ├── cli.py                 # CLI Tool</a:t>
            </a:r>
          </a:p>
          <a:p>
            <a:pPr>
              <a:spcAft>
                <a:spcPts val="600"/>
              </a:spcAft>
            </a:pPr>
            <a:r>
              <a:rPr lang="en-GB" sz="1100" dirty="0"/>
              <a:t>│   ├── utils                  # Utility Modules</a:t>
            </a:r>
          </a:p>
          <a:p>
            <a:pPr>
              <a:spcAft>
                <a:spcPts val="600"/>
              </a:spcAft>
            </a:pPr>
            <a:r>
              <a:rPr lang="en-GB" sz="1100" dirty="0"/>
              <a:t>│   │   ├── data_processor.py  # Data Parsing &amp; Processing</a:t>
            </a:r>
          </a:p>
          <a:p>
            <a:pPr>
              <a:spcAft>
                <a:spcPts val="600"/>
              </a:spcAft>
            </a:pPr>
            <a:r>
              <a:rPr lang="en-GB" sz="1100" dirty="0"/>
              <a:t>│   │   ├── validator.py       # Validation &amp; Discrepancy Detection</a:t>
            </a:r>
          </a:p>
          <a:p>
            <a:pPr>
              <a:spcAft>
                <a:spcPts val="600"/>
              </a:spcAft>
            </a:pPr>
            <a:r>
              <a:rPr lang="en-GB" sz="1100" dirty="0"/>
              <a:t>│   │   ├── settings_manager.py# Configuration Management</a:t>
            </a:r>
          </a:p>
          <a:p>
            <a:pPr>
              <a:spcAft>
                <a:spcPts val="600"/>
              </a:spcAft>
            </a:pPr>
            <a:r>
              <a:rPr lang="en-GB" sz="1100" dirty="0"/>
              <a:t>│   │   ├── visualizer.py      # Reporting &amp; Visualization</a:t>
            </a:r>
          </a:p>
          <a:p>
            <a:pPr>
              <a:spcAft>
                <a:spcPts val="600"/>
              </a:spcAft>
            </a:pPr>
            <a:r>
              <a:rPr lang="en-GB" sz="1100" dirty="0"/>
              <a:t>│   ├── rules_config.json      # Rule Configuration (Optional)</a:t>
            </a:r>
          </a:p>
          <a:p>
            <a:pPr>
              <a:spcAft>
                <a:spcPts val="600"/>
              </a:spcAft>
            </a:pPr>
            <a:r>
              <a:rPr lang="en-GB" sz="1100" dirty="0"/>
              <a:t>│   ├── directory_config.json 	 # Directory Paths (Optional)</a:t>
            </a:r>
          </a:p>
          <a:p>
            <a:pPr>
              <a:spcAft>
                <a:spcPts val="600"/>
              </a:spcAft>
            </a:pPr>
            <a:r>
              <a:rPr lang="en-GB" sz="1100" dirty="0"/>
              <a:t>│   ├── env_config.json  	#Env Details (Optional)</a:t>
            </a:r>
          </a:p>
          <a:p>
            <a:pPr>
              <a:spcAft>
                <a:spcPts val="600"/>
              </a:spcAft>
            </a:pPr>
            <a:r>
              <a:rPr lang="en-GB" sz="1100" dirty="0"/>
              <a:t>│   ├── results/               # Stores comparison results</a:t>
            </a:r>
          </a:p>
          <a:p>
            <a:pPr>
              <a:spcAft>
                <a:spcPts val="600"/>
              </a:spcAft>
            </a:pPr>
            <a:r>
              <a:rPr lang="en-GB" sz="1100" dirty="0"/>
              <a:t>│   ├── temp/               # temporary operation</a:t>
            </a:r>
          </a:p>
        </p:txBody>
      </p:sp>
      <p:sp>
        <p:nvSpPr>
          <p:cNvPr id="10" name="TextBox 9">
            <a:extLst>
              <a:ext uri="{FF2B5EF4-FFF2-40B4-BE49-F238E27FC236}">
                <a16:creationId xmlns:a16="http://schemas.microsoft.com/office/drawing/2014/main" id="{A783119B-9667-E8C9-129B-5799AB29547C}"/>
              </a:ext>
            </a:extLst>
          </p:cNvPr>
          <p:cNvSpPr txBox="1"/>
          <p:nvPr/>
        </p:nvSpPr>
        <p:spPr>
          <a:xfrm>
            <a:off x="645542" y="466586"/>
            <a:ext cx="2089597" cy="461665"/>
          </a:xfrm>
          <a:prstGeom prst="rect">
            <a:avLst/>
          </a:prstGeom>
          <a:solidFill>
            <a:schemeClr val="tx2">
              <a:lumMod val="10000"/>
              <a:lumOff val="90000"/>
            </a:schemeClr>
          </a:solidFill>
        </p:spPr>
        <p:txBody>
          <a:bodyPr wrap="square">
            <a:spAutoFit/>
          </a:bodyPr>
          <a:lstStyle/>
          <a:p>
            <a:pPr algn="ctr"/>
            <a:r>
              <a:rPr lang="en-US" sz="1200" b="1" i="0" dirty="0">
                <a:solidFill>
                  <a:srgbClr val="000000"/>
                </a:solidFill>
                <a:effectLst/>
                <a:latin typeface="Times New Roman" panose="02020603050405020304" pitchFamily="18" charset="0"/>
              </a:rPr>
              <a:t>Step 1: </a:t>
            </a:r>
          </a:p>
          <a:p>
            <a:pPr algn="ctr"/>
            <a:r>
              <a:rPr lang="en-US" sz="1200" i="0" dirty="0">
                <a:solidFill>
                  <a:srgbClr val="000000"/>
                </a:solidFill>
                <a:effectLst/>
                <a:latin typeface="Times New Roman" panose="02020603050405020304" pitchFamily="18" charset="0"/>
              </a:rPr>
              <a:t>Load &amp; Parse Data</a:t>
            </a:r>
          </a:p>
        </p:txBody>
      </p:sp>
      <p:sp>
        <p:nvSpPr>
          <p:cNvPr id="12" name="TextBox 11">
            <a:extLst>
              <a:ext uri="{FF2B5EF4-FFF2-40B4-BE49-F238E27FC236}">
                <a16:creationId xmlns:a16="http://schemas.microsoft.com/office/drawing/2014/main" id="{8604336B-C5D6-C1C3-05EB-FD3C3201246E}"/>
              </a:ext>
            </a:extLst>
          </p:cNvPr>
          <p:cNvSpPr txBox="1"/>
          <p:nvPr/>
        </p:nvSpPr>
        <p:spPr>
          <a:xfrm>
            <a:off x="647139"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2: </a:t>
            </a:r>
            <a:r>
              <a:rPr lang="en-US" sz="1200" b="0" dirty="0"/>
              <a:t>Parse Key-Value Pairs from DD Files</a:t>
            </a:r>
          </a:p>
        </p:txBody>
      </p:sp>
      <p:sp>
        <p:nvSpPr>
          <p:cNvPr id="14" name="TextBox 13">
            <a:extLst>
              <a:ext uri="{FF2B5EF4-FFF2-40B4-BE49-F238E27FC236}">
                <a16:creationId xmlns:a16="http://schemas.microsoft.com/office/drawing/2014/main" id="{DAEEA090-5826-E702-AB5C-337AEB0154A7}"/>
              </a:ext>
            </a:extLst>
          </p:cNvPr>
          <p:cNvSpPr txBox="1"/>
          <p:nvPr/>
        </p:nvSpPr>
        <p:spPr>
          <a:xfrm>
            <a:off x="3409131" y="466586"/>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 Step 3: </a:t>
            </a:r>
            <a:r>
              <a:rPr lang="en-GB" sz="1200" b="0" dirty="0"/>
              <a:t>Compare Baseline vs. Candidate Data</a:t>
            </a:r>
          </a:p>
        </p:txBody>
      </p:sp>
      <p:sp>
        <p:nvSpPr>
          <p:cNvPr id="16" name="TextBox 15">
            <a:extLst>
              <a:ext uri="{FF2B5EF4-FFF2-40B4-BE49-F238E27FC236}">
                <a16:creationId xmlns:a16="http://schemas.microsoft.com/office/drawing/2014/main" id="{E385BFC3-FBD9-9705-C94E-846123F35A67}"/>
              </a:ext>
            </a:extLst>
          </p:cNvPr>
          <p:cNvSpPr txBox="1"/>
          <p:nvPr/>
        </p:nvSpPr>
        <p:spPr>
          <a:xfrm>
            <a:off x="3409130"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4: </a:t>
            </a:r>
            <a:r>
              <a:rPr lang="en-GB" sz="1200" b="0" dirty="0"/>
              <a:t>Compute Differences based on datatype</a:t>
            </a:r>
          </a:p>
        </p:txBody>
      </p:sp>
      <p:sp>
        <p:nvSpPr>
          <p:cNvPr id="18" name="TextBox 17">
            <a:extLst>
              <a:ext uri="{FF2B5EF4-FFF2-40B4-BE49-F238E27FC236}">
                <a16:creationId xmlns:a16="http://schemas.microsoft.com/office/drawing/2014/main" id="{DD976B23-CE4F-CDD9-3B34-EBB364EF8AC5}"/>
              </a:ext>
            </a:extLst>
          </p:cNvPr>
          <p:cNvSpPr txBox="1"/>
          <p:nvPr/>
        </p:nvSpPr>
        <p:spPr>
          <a:xfrm>
            <a:off x="6171123"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 Step 5: </a:t>
            </a:r>
            <a:r>
              <a:rPr lang="en-US" sz="1200" b="0" dirty="0"/>
              <a:t>Classify Differences based on Rules Config file</a:t>
            </a:r>
          </a:p>
        </p:txBody>
      </p:sp>
      <p:sp>
        <p:nvSpPr>
          <p:cNvPr id="20" name="TextBox 19">
            <a:extLst>
              <a:ext uri="{FF2B5EF4-FFF2-40B4-BE49-F238E27FC236}">
                <a16:creationId xmlns:a16="http://schemas.microsoft.com/office/drawing/2014/main" id="{8AB6EE56-2619-68EE-0DAA-1316F91C79CE}"/>
              </a:ext>
            </a:extLst>
          </p:cNvPr>
          <p:cNvSpPr txBox="1"/>
          <p:nvPr/>
        </p:nvSpPr>
        <p:spPr>
          <a:xfrm>
            <a:off x="6171121"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6: </a:t>
            </a:r>
            <a:r>
              <a:rPr lang="en-US" sz="1200" b="0" dirty="0"/>
              <a:t>Generate &amp; Export Report</a:t>
            </a:r>
          </a:p>
        </p:txBody>
      </p:sp>
      <p:sp>
        <p:nvSpPr>
          <p:cNvPr id="22" name="TextBox 21">
            <a:extLst>
              <a:ext uri="{FF2B5EF4-FFF2-40B4-BE49-F238E27FC236}">
                <a16:creationId xmlns:a16="http://schemas.microsoft.com/office/drawing/2014/main" id="{1C0DDB84-86EA-0EB9-50D7-483402ABE3C6}"/>
              </a:ext>
            </a:extLst>
          </p:cNvPr>
          <p:cNvSpPr txBox="1"/>
          <p:nvPr/>
        </p:nvSpPr>
        <p:spPr>
          <a:xfrm>
            <a:off x="8933114"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7: </a:t>
            </a:r>
          </a:p>
          <a:p>
            <a:r>
              <a:rPr lang="en-GB" sz="1200" b="0" dirty="0"/>
              <a:t>CLI Execution</a:t>
            </a:r>
          </a:p>
        </p:txBody>
      </p:sp>
      <p:sp>
        <p:nvSpPr>
          <p:cNvPr id="24" name="TextBox 23">
            <a:extLst>
              <a:ext uri="{FF2B5EF4-FFF2-40B4-BE49-F238E27FC236}">
                <a16:creationId xmlns:a16="http://schemas.microsoft.com/office/drawing/2014/main" id="{0F91FEE9-6F5D-16CA-B95C-CC3D7A77F538}"/>
              </a:ext>
            </a:extLst>
          </p:cNvPr>
          <p:cNvSpPr txBox="1"/>
          <p:nvPr/>
        </p:nvSpPr>
        <p:spPr>
          <a:xfrm>
            <a:off x="8933113"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8: </a:t>
            </a:r>
            <a:r>
              <a:rPr lang="en-US" sz="1200" b="0" dirty="0"/>
              <a:t>API Execution (FastAPI)</a:t>
            </a:r>
          </a:p>
        </p:txBody>
      </p:sp>
      <p:cxnSp>
        <p:nvCxnSpPr>
          <p:cNvPr id="26" name="Straight Arrow Connector 25">
            <a:extLst>
              <a:ext uri="{FF2B5EF4-FFF2-40B4-BE49-F238E27FC236}">
                <a16:creationId xmlns:a16="http://schemas.microsoft.com/office/drawing/2014/main" id="{2858F3B5-4666-0B15-7415-C8C6F2C7CEDD}"/>
              </a:ext>
            </a:extLst>
          </p:cNvPr>
          <p:cNvCxnSpPr>
            <a:stCxn id="10" idx="2"/>
            <a:endCxn id="12" idx="0"/>
          </p:cNvCxnSpPr>
          <p:nvPr/>
        </p:nvCxnSpPr>
        <p:spPr>
          <a:xfrm>
            <a:off x="1690341" y="928251"/>
            <a:ext cx="798"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66A784C-00F2-7A5C-B237-3FC6A07631C0}"/>
              </a:ext>
            </a:extLst>
          </p:cNvPr>
          <p:cNvCxnSpPr>
            <a:stCxn id="12" idx="3"/>
            <a:endCxn id="14" idx="1"/>
          </p:cNvCxnSpPr>
          <p:nvPr/>
        </p:nvCxnSpPr>
        <p:spPr>
          <a:xfrm flipV="1">
            <a:off x="2735139" y="697419"/>
            <a:ext cx="673992"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689A1CF-77ED-7CBF-AD76-450ED2FF5CDC}"/>
              </a:ext>
            </a:extLst>
          </p:cNvPr>
          <p:cNvCxnSpPr>
            <a:stCxn id="14" idx="2"/>
            <a:endCxn id="16" idx="0"/>
          </p:cNvCxnSpPr>
          <p:nvPr/>
        </p:nvCxnSpPr>
        <p:spPr>
          <a:xfrm flipH="1">
            <a:off x="4453130"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0DDF607-75A2-CCF5-2160-E00B4FDB3B0E}"/>
              </a:ext>
            </a:extLst>
          </p:cNvPr>
          <p:cNvCxnSpPr>
            <a:stCxn id="16" idx="3"/>
            <a:endCxn id="18" idx="1"/>
          </p:cNvCxnSpPr>
          <p:nvPr/>
        </p:nvCxnSpPr>
        <p:spPr>
          <a:xfrm flipV="1">
            <a:off x="5497130"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99A7525-86D2-4DDF-A25D-2F0D0B7E665A}"/>
              </a:ext>
            </a:extLst>
          </p:cNvPr>
          <p:cNvCxnSpPr>
            <a:stCxn id="18" idx="2"/>
            <a:endCxn id="20" idx="0"/>
          </p:cNvCxnSpPr>
          <p:nvPr/>
        </p:nvCxnSpPr>
        <p:spPr>
          <a:xfrm flipH="1">
            <a:off x="7215121" y="928251"/>
            <a:ext cx="2"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2389E6E-0097-039A-B9A1-5A5B4A4FC45D}"/>
              </a:ext>
            </a:extLst>
          </p:cNvPr>
          <p:cNvCxnSpPr>
            <a:stCxn id="20" idx="3"/>
            <a:endCxn id="22" idx="1"/>
          </p:cNvCxnSpPr>
          <p:nvPr/>
        </p:nvCxnSpPr>
        <p:spPr>
          <a:xfrm flipV="1">
            <a:off x="8259121"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54C0BD2-A91E-486E-097C-58C7F849C3AF}"/>
              </a:ext>
            </a:extLst>
          </p:cNvPr>
          <p:cNvCxnSpPr>
            <a:stCxn id="22" idx="2"/>
            <a:endCxn id="24" idx="0"/>
          </p:cNvCxnSpPr>
          <p:nvPr/>
        </p:nvCxnSpPr>
        <p:spPr>
          <a:xfrm flipH="1">
            <a:off x="9977113"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B31DB215-52B9-F9CE-F9E4-4A58F6E4EF38}"/>
              </a:ext>
            </a:extLst>
          </p:cNvPr>
          <p:cNvSpPr/>
          <p:nvPr/>
        </p:nvSpPr>
        <p:spPr>
          <a:xfrm>
            <a:off x="5968826" y="286282"/>
            <a:ext cx="5254581" cy="192217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42" name="Rectangle 41">
            <a:hlinkClick r:id="rId2" action="ppaction://hlinksldjump"/>
            <a:extLst>
              <a:ext uri="{FF2B5EF4-FFF2-40B4-BE49-F238E27FC236}">
                <a16:creationId xmlns:a16="http://schemas.microsoft.com/office/drawing/2014/main" id="{14FBCA99-3F95-99BF-5E15-A66F60FE61AC}"/>
              </a:ext>
            </a:extLst>
          </p:cNvPr>
          <p:cNvSpPr/>
          <p:nvPr/>
        </p:nvSpPr>
        <p:spPr>
          <a:xfrm>
            <a:off x="463637" y="1974672"/>
            <a:ext cx="5254581" cy="23083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Validation</a:t>
            </a:r>
            <a:endParaRPr lang="en-GB" sz="1600" dirty="0"/>
          </a:p>
        </p:txBody>
      </p:sp>
      <p:sp>
        <p:nvSpPr>
          <p:cNvPr id="43" name="Rectangle 42">
            <a:hlinkClick r:id="rId3" action="ppaction://hlinksldjump"/>
            <a:extLst>
              <a:ext uri="{FF2B5EF4-FFF2-40B4-BE49-F238E27FC236}">
                <a16:creationId xmlns:a16="http://schemas.microsoft.com/office/drawing/2014/main" id="{88950D85-8491-DABA-84CF-6F7809FAF3C4}"/>
              </a:ext>
            </a:extLst>
          </p:cNvPr>
          <p:cNvSpPr/>
          <p:nvPr/>
        </p:nvSpPr>
        <p:spPr>
          <a:xfrm>
            <a:off x="5968826" y="1974671"/>
            <a:ext cx="5254581" cy="23083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Reconciliation</a:t>
            </a:r>
            <a:endParaRPr lang="en-GB" sz="1600" dirty="0">
              <a:solidFill>
                <a:schemeClr val="bg1"/>
              </a:solidFill>
            </a:endParaRPr>
          </a:p>
        </p:txBody>
      </p:sp>
      <p:sp>
        <p:nvSpPr>
          <p:cNvPr id="45" name="TextBox 44">
            <a:extLst>
              <a:ext uri="{FF2B5EF4-FFF2-40B4-BE49-F238E27FC236}">
                <a16:creationId xmlns:a16="http://schemas.microsoft.com/office/drawing/2014/main" id="{1B2711C7-7A98-AD15-4709-5DC4DE6817A6}"/>
              </a:ext>
            </a:extLst>
          </p:cNvPr>
          <p:cNvSpPr txBox="1"/>
          <p:nvPr/>
        </p:nvSpPr>
        <p:spPr>
          <a:xfrm>
            <a:off x="391193" y="4694281"/>
            <a:ext cx="5254581" cy="1877437"/>
          </a:xfrm>
          <a:prstGeom prst="rect">
            <a:avLst/>
          </a:prstGeom>
          <a:noFill/>
        </p:spPr>
        <p:txBody>
          <a:bodyPr wrap="square">
            <a:spAutoFit/>
          </a:bodyPr>
          <a:lstStyle>
            <a:defPPr>
              <a:defRPr lang="en-US"/>
            </a:defPPr>
            <a:lvl1pPr>
              <a:spcAft>
                <a:spcPts val="600"/>
              </a:spcAft>
              <a:defRPr sz="1400" b="1" i="0">
                <a:solidFill>
                  <a:srgbClr val="000000"/>
                </a:solidFill>
                <a:effectLst/>
              </a:defRPr>
            </a:lvl1pPr>
          </a:lstStyle>
          <a:p>
            <a:r>
              <a:rPr lang="en-GB" dirty="0"/>
              <a:t>Key Takeaways</a:t>
            </a:r>
          </a:p>
          <a:p>
            <a:r>
              <a:rPr lang="en-GB" sz="1200" b="0" dirty="0"/>
              <a:t>✔ Parses and compares key-value pairs dynamically</a:t>
            </a:r>
          </a:p>
          <a:p>
            <a:r>
              <a:rPr lang="en-GB" sz="1200" b="0" dirty="0"/>
              <a:t>✔ Handles multiple file formats (Excel, CSV, JSON, TXT)</a:t>
            </a:r>
          </a:p>
          <a:p>
            <a:r>
              <a:rPr lang="en-GB" sz="1200" b="0" dirty="0"/>
              <a:t>✔ Supports multiple data types (Numeric, String, Datetime, Array, Nested)</a:t>
            </a:r>
          </a:p>
          <a:p>
            <a:r>
              <a:rPr lang="en-GB" sz="1200" b="0" dirty="0"/>
              <a:t>✔ Categorizes discrepancies based on classification provided</a:t>
            </a:r>
          </a:p>
          <a:p>
            <a:r>
              <a:rPr lang="en-GB" sz="1200" b="0" dirty="0"/>
              <a:t>✔ Generates detailed reports in CSV, JSON, XLSX</a:t>
            </a:r>
          </a:p>
          <a:p>
            <a:r>
              <a:rPr lang="en-GB" sz="1200" b="0" dirty="0"/>
              <a:t>✔ Fully cross-platform (Windows, macOS, Linux)</a:t>
            </a:r>
          </a:p>
        </p:txBody>
      </p:sp>
      <p:cxnSp>
        <p:nvCxnSpPr>
          <p:cNvPr id="47" name="Straight Connector 46">
            <a:extLst>
              <a:ext uri="{FF2B5EF4-FFF2-40B4-BE49-F238E27FC236}">
                <a16:creationId xmlns:a16="http://schemas.microsoft.com/office/drawing/2014/main" id="{87521007-F91D-33D3-1840-88BEBAC4A4C8}"/>
              </a:ext>
            </a:extLst>
          </p:cNvPr>
          <p:cNvCxnSpPr/>
          <p:nvPr/>
        </p:nvCxnSpPr>
        <p:spPr>
          <a:xfrm>
            <a:off x="391193" y="4626902"/>
            <a:ext cx="5577633" cy="0"/>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A6063479-995D-E0D6-8ABE-6356B4D4CB00}"/>
              </a:ext>
            </a:extLst>
          </p:cNvPr>
          <p:cNvCxnSpPr/>
          <p:nvPr/>
        </p:nvCxnSpPr>
        <p:spPr>
          <a:xfrm>
            <a:off x="6171121" y="2588654"/>
            <a:ext cx="0" cy="3863661"/>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9399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Left 18">
            <a:hlinkClick r:id="rId2" action="ppaction://hlinksldjump"/>
            <a:extLst>
              <a:ext uri="{FF2B5EF4-FFF2-40B4-BE49-F238E27FC236}">
                <a16:creationId xmlns:a16="http://schemas.microsoft.com/office/drawing/2014/main" id="{06AACA5F-F59A-7006-F712-568EEA5E9AAC}"/>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7CA1583B-90C5-ECE3-C606-4B9AAB2AAF64}"/>
              </a:ext>
            </a:extLst>
          </p:cNvPr>
          <p:cNvPicPr>
            <a:picLocks noChangeAspect="1"/>
          </p:cNvPicPr>
          <p:nvPr/>
        </p:nvPicPr>
        <p:blipFill>
          <a:blip r:embed="rId3"/>
          <a:stretch>
            <a:fillRect/>
          </a:stretch>
        </p:blipFill>
        <p:spPr>
          <a:xfrm>
            <a:off x="0" y="236646"/>
            <a:ext cx="3042042" cy="2281531"/>
          </a:xfrm>
          <a:prstGeom prst="rect">
            <a:avLst/>
          </a:prstGeom>
        </p:spPr>
      </p:pic>
      <p:pic>
        <p:nvPicPr>
          <p:cNvPr id="5" name="Picture 4">
            <a:extLst>
              <a:ext uri="{FF2B5EF4-FFF2-40B4-BE49-F238E27FC236}">
                <a16:creationId xmlns:a16="http://schemas.microsoft.com/office/drawing/2014/main" id="{A988BCCC-5CEF-84C3-B2EE-319C5836E39F}"/>
              </a:ext>
            </a:extLst>
          </p:cNvPr>
          <p:cNvPicPr>
            <a:picLocks noChangeAspect="1"/>
          </p:cNvPicPr>
          <p:nvPr/>
        </p:nvPicPr>
        <p:blipFill>
          <a:blip r:embed="rId4"/>
          <a:stretch>
            <a:fillRect/>
          </a:stretch>
        </p:blipFill>
        <p:spPr>
          <a:xfrm>
            <a:off x="3173738" y="127598"/>
            <a:ext cx="4037664" cy="4212225"/>
          </a:xfrm>
          <a:prstGeom prst="rect">
            <a:avLst/>
          </a:prstGeom>
        </p:spPr>
      </p:pic>
      <p:pic>
        <p:nvPicPr>
          <p:cNvPr id="7" name="Picture 6">
            <a:extLst>
              <a:ext uri="{FF2B5EF4-FFF2-40B4-BE49-F238E27FC236}">
                <a16:creationId xmlns:a16="http://schemas.microsoft.com/office/drawing/2014/main" id="{38F2798F-8027-B3EC-72A8-03B1A4CC21FB}"/>
              </a:ext>
            </a:extLst>
          </p:cNvPr>
          <p:cNvPicPr>
            <a:picLocks noChangeAspect="1"/>
          </p:cNvPicPr>
          <p:nvPr/>
        </p:nvPicPr>
        <p:blipFill>
          <a:blip r:embed="rId5"/>
          <a:stretch>
            <a:fillRect/>
          </a:stretch>
        </p:blipFill>
        <p:spPr>
          <a:xfrm>
            <a:off x="7305219" y="236646"/>
            <a:ext cx="4715755" cy="3699613"/>
          </a:xfrm>
          <a:prstGeom prst="rect">
            <a:avLst/>
          </a:prstGeom>
        </p:spPr>
      </p:pic>
      <p:pic>
        <p:nvPicPr>
          <p:cNvPr id="11" name="Picture 10">
            <a:extLst>
              <a:ext uri="{FF2B5EF4-FFF2-40B4-BE49-F238E27FC236}">
                <a16:creationId xmlns:a16="http://schemas.microsoft.com/office/drawing/2014/main" id="{FB7170E0-B81A-FFDC-9E5F-5620F3AE5DC4}"/>
              </a:ext>
            </a:extLst>
          </p:cNvPr>
          <p:cNvPicPr>
            <a:picLocks noChangeAspect="1"/>
          </p:cNvPicPr>
          <p:nvPr/>
        </p:nvPicPr>
        <p:blipFill>
          <a:blip r:embed="rId6"/>
          <a:stretch>
            <a:fillRect/>
          </a:stretch>
        </p:blipFill>
        <p:spPr>
          <a:xfrm>
            <a:off x="5915389" y="4137266"/>
            <a:ext cx="5116835" cy="2720734"/>
          </a:xfrm>
          <a:prstGeom prst="rect">
            <a:avLst/>
          </a:prstGeom>
        </p:spPr>
      </p:pic>
      <p:pic>
        <p:nvPicPr>
          <p:cNvPr id="15" name="Picture 14">
            <a:extLst>
              <a:ext uri="{FF2B5EF4-FFF2-40B4-BE49-F238E27FC236}">
                <a16:creationId xmlns:a16="http://schemas.microsoft.com/office/drawing/2014/main" id="{7D501C1E-5C77-A5C5-E5FB-17B8E89E6BC1}"/>
              </a:ext>
            </a:extLst>
          </p:cNvPr>
          <p:cNvPicPr>
            <a:picLocks noChangeAspect="1"/>
          </p:cNvPicPr>
          <p:nvPr/>
        </p:nvPicPr>
        <p:blipFill>
          <a:blip r:embed="rId7"/>
          <a:stretch>
            <a:fillRect/>
          </a:stretch>
        </p:blipFill>
        <p:spPr>
          <a:xfrm>
            <a:off x="240352" y="3064903"/>
            <a:ext cx="2886478" cy="3572374"/>
          </a:xfrm>
          <a:prstGeom prst="rect">
            <a:avLst/>
          </a:prstGeom>
        </p:spPr>
      </p:pic>
    </p:spTree>
    <p:extLst>
      <p:ext uri="{BB962C8B-B14F-4D97-AF65-F5344CB8AC3E}">
        <p14:creationId xmlns:p14="http://schemas.microsoft.com/office/powerpoint/2010/main" val="2296570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B9CC-F65B-3A52-EB64-2F09D00615A6}"/>
            </a:ext>
          </a:extLst>
        </p:cNvPr>
        <p:cNvGrpSpPr/>
        <p:nvPr/>
      </p:nvGrpSpPr>
      <p:grpSpPr>
        <a:xfrm>
          <a:off x="0" y="0"/>
          <a:ext cx="0" cy="0"/>
          <a:chOff x="0" y="0"/>
          <a:chExt cx="0" cy="0"/>
        </a:xfrm>
      </p:grpSpPr>
      <p:sp>
        <p:nvSpPr>
          <p:cNvPr id="10" name="Arrow: Left 9">
            <a:hlinkClick r:id="rId2" action="ppaction://hlinksldjump"/>
            <a:extLst>
              <a:ext uri="{FF2B5EF4-FFF2-40B4-BE49-F238E27FC236}">
                <a16:creationId xmlns:a16="http://schemas.microsoft.com/office/drawing/2014/main" id="{153B6A35-C6F4-3321-961A-2E3880C5D8F9}"/>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53B569E2-AA70-F562-7D31-FC32FC8C6906}"/>
              </a:ext>
            </a:extLst>
          </p:cNvPr>
          <p:cNvPicPr>
            <a:picLocks noChangeAspect="1"/>
          </p:cNvPicPr>
          <p:nvPr/>
        </p:nvPicPr>
        <p:blipFill>
          <a:blip r:embed="rId3"/>
          <a:stretch>
            <a:fillRect/>
          </a:stretch>
        </p:blipFill>
        <p:spPr>
          <a:xfrm>
            <a:off x="249634" y="367500"/>
            <a:ext cx="5249008" cy="2029108"/>
          </a:xfrm>
          <a:prstGeom prst="rect">
            <a:avLst/>
          </a:prstGeom>
        </p:spPr>
      </p:pic>
      <p:pic>
        <p:nvPicPr>
          <p:cNvPr id="8" name="Picture 7">
            <a:extLst>
              <a:ext uri="{FF2B5EF4-FFF2-40B4-BE49-F238E27FC236}">
                <a16:creationId xmlns:a16="http://schemas.microsoft.com/office/drawing/2014/main" id="{13E9FFD3-82BB-B873-DA32-45EC73ECF5DE}"/>
              </a:ext>
            </a:extLst>
          </p:cNvPr>
          <p:cNvPicPr>
            <a:picLocks noChangeAspect="1"/>
          </p:cNvPicPr>
          <p:nvPr/>
        </p:nvPicPr>
        <p:blipFill>
          <a:blip r:embed="rId4"/>
          <a:stretch>
            <a:fillRect/>
          </a:stretch>
        </p:blipFill>
        <p:spPr>
          <a:xfrm>
            <a:off x="5635936" y="282565"/>
            <a:ext cx="6306430" cy="3553321"/>
          </a:xfrm>
          <a:prstGeom prst="rect">
            <a:avLst/>
          </a:prstGeom>
        </p:spPr>
      </p:pic>
      <p:pic>
        <p:nvPicPr>
          <p:cNvPr id="12" name="Picture 11">
            <a:extLst>
              <a:ext uri="{FF2B5EF4-FFF2-40B4-BE49-F238E27FC236}">
                <a16:creationId xmlns:a16="http://schemas.microsoft.com/office/drawing/2014/main" id="{2557CA20-4C1B-86CC-6495-52AF6532B68A}"/>
              </a:ext>
            </a:extLst>
          </p:cNvPr>
          <p:cNvPicPr>
            <a:picLocks noChangeAspect="1"/>
          </p:cNvPicPr>
          <p:nvPr/>
        </p:nvPicPr>
        <p:blipFill>
          <a:blip r:embed="rId5"/>
          <a:stretch>
            <a:fillRect/>
          </a:stretch>
        </p:blipFill>
        <p:spPr>
          <a:xfrm>
            <a:off x="438818" y="3938357"/>
            <a:ext cx="6277851" cy="762106"/>
          </a:xfrm>
          <a:prstGeom prst="rect">
            <a:avLst/>
          </a:prstGeom>
        </p:spPr>
      </p:pic>
      <p:pic>
        <p:nvPicPr>
          <p:cNvPr id="16" name="Picture 15">
            <a:extLst>
              <a:ext uri="{FF2B5EF4-FFF2-40B4-BE49-F238E27FC236}">
                <a16:creationId xmlns:a16="http://schemas.microsoft.com/office/drawing/2014/main" id="{9DBB1D35-0170-8558-FB83-1394BF0445FA}"/>
              </a:ext>
            </a:extLst>
          </p:cNvPr>
          <p:cNvPicPr>
            <a:picLocks noChangeAspect="1"/>
          </p:cNvPicPr>
          <p:nvPr/>
        </p:nvPicPr>
        <p:blipFill>
          <a:blip r:embed="rId6"/>
          <a:stretch>
            <a:fillRect/>
          </a:stretch>
        </p:blipFill>
        <p:spPr>
          <a:xfrm>
            <a:off x="420710" y="5085978"/>
            <a:ext cx="6173061" cy="1152686"/>
          </a:xfrm>
          <a:prstGeom prst="rect">
            <a:avLst/>
          </a:prstGeom>
        </p:spPr>
      </p:pic>
    </p:spTree>
    <p:extLst>
      <p:ext uri="{BB962C8B-B14F-4D97-AF65-F5344CB8AC3E}">
        <p14:creationId xmlns:p14="http://schemas.microsoft.com/office/powerpoint/2010/main" val="3330039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CEA7B-DB68-371D-CC19-E8601472F4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F001941-ED97-C78F-798C-38DE1C98547E}"/>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300"/>
              </a:spcAft>
            </a:pPr>
            <a:r>
              <a:rPr lang="en-US" sz="1000" dirty="0">
                <a:ea typeface="Tahoma" panose="020B0604030504040204" pitchFamily="34" charset="0"/>
                <a:cs typeface="Tahoma" panose="020B0604030504040204" pitchFamily="34" charset="0"/>
              </a:rPr>
              <a:t>BEGIN</a:t>
            </a:r>
          </a:p>
          <a:p>
            <a:pPr>
              <a:spcAft>
                <a:spcPts val="300"/>
              </a:spcAft>
            </a:pPr>
            <a:r>
              <a:rPr lang="en-US" sz="1000" dirty="0">
                <a:ea typeface="Tahoma" panose="020B0604030504040204" pitchFamily="34" charset="0"/>
                <a:cs typeface="Tahoma" panose="020B0604030504040204" pitchFamily="34" charset="0"/>
              </a:rPr>
              <a:t>METHOD main():</a:t>
            </a:r>
          </a:p>
          <a:p>
            <a:pPr>
              <a:spcAft>
                <a:spcPts val="300"/>
              </a:spcAft>
            </a:pPr>
            <a:r>
              <a:rPr lang="en-US" sz="1000" dirty="0">
                <a:ea typeface="Tahoma" panose="020B0604030504040204" pitchFamily="34" charset="0"/>
                <a:cs typeface="Tahoma" panose="020B0604030504040204" pitchFamily="34" charset="0"/>
              </a:rPr>
              <a:t>    # Initialize argument parser</a:t>
            </a:r>
          </a:p>
          <a:p>
            <a:pPr>
              <a:spcAft>
                <a:spcPts val="300"/>
              </a:spcAft>
            </a:pPr>
            <a:r>
              <a:rPr lang="en-US" sz="1000" dirty="0">
                <a:ea typeface="Tahoma" panose="020B0604030504040204" pitchFamily="34" charset="0"/>
                <a:cs typeface="Tahoma" panose="020B0604030504040204" pitchFamily="34" charset="0"/>
              </a:rPr>
              <a:t>    CREATE parser with description "Discrepancy Detection CLI Tool"</a:t>
            </a:r>
          </a:p>
          <a:p>
            <a:pPr>
              <a:spcAft>
                <a:spcPts val="300"/>
              </a:spcAft>
            </a:pPr>
            <a:r>
              <a:rPr lang="en-US" sz="1000" dirty="0">
                <a:ea typeface="Tahoma" panose="020B0604030504040204" pitchFamily="34" charset="0"/>
                <a:cs typeface="Tahoma" panose="020B0604030504040204" pitchFamily="34" charset="0"/>
              </a:rPr>
              <a:t>    # Define required arguments</a:t>
            </a:r>
          </a:p>
          <a:p>
            <a:pPr>
              <a:spcAft>
                <a:spcPts val="300"/>
              </a:spcAft>
            </a:pPr>
            <a:r>
              <a:rPr lang="en-US" sz="1000" dirty="0">
                <a:ea typeface="Tahoma" panose="020B0604030504040204" pitchFamily="34" charset="0"/>
                <a:cs typeface="Tahoma" panose="020B0604030504040204" pitchFamily="34" charset="0"/>
              </a:rPr>
              <a:t>    ADD argument "--baseline" (Path to baseline file, Required)</a:t>
            </a:r>
          </a:p>
          <a:p>
            <a:pPr>
              <a:spcAft>
                <a:spcPts val="300"/>
              </a:spcAft>
            </a:pPr>
            <a:r>
              <a:rPr lang="en-US" sz="1000" dirty="0">
                <a:ea typeface="Tahoma" panose="020B0604030504040204" pitchFamily="34" charset="0"/>
                <a:cs typeface="Tahoma" panose="020B0604030504040204" pitchFamily="34" charset="0"/>
              </a:rPr>
              <a:t>    ADD argument "--candidate" (Path to candidate file, Required)</a:t>
            </a:r>
          </a:p>
          <a:p>
            <a:pPr>
              <a:spcAft>
                <a:spcPts val="300"/>
              </a:spcAft>
            </a:pPr>
            <a:r>
              <a:rPr lang="en-US" sz="1000" dirty="0">
                <a:ea typeface="Tahoma" panose="020B0604030504040204" pitchFamily="34" charset="0"/>
                <a:cs typeface="Tahoma" panose="020B0604030504040204" pitchFamily="34" charset="0"/>
              </a:rPr>
              <a:t>    ADD argument "--directory_config" (Path to directory_config.json, Required)</a:t>
            </a:r>
          </a:p>
          <a:p>
            <a:pPr>
              <a:spcAft>
                <a:spcPts val="300"/>
              </a:spcAft>
            </a:pPr>
            <a:r>
              <a:rPr lang="en-US" sz="1000" dirty="0">
                <a:ea typeface="Tahoma" panose="020B0604030504040204" pitchFamily="34" charset="0"/>
                <a:cs typeface="Tahoma" panose="020B0604030504040204" pitchFamily="34" charset="0"/>
              </a:rPr>
              <a:t>    ADD argument "--job_response" (Path to job_creation_response.json, Required)</a:t>
            </a:r>
          </a:p>
          <a:p>
            <a:pPr>
              <a:spcAft>
                <a:spcPts val="300"/>
              </a:spcAft>
            </a:pPr>
            <a:r>
              <a:rPr lang="en-US" sz="1000" dirty="0">
                <a:ea typeface="Tahoma" panose="020B0604030504040204" pitchFamily="34" charset="0"/>
                <a:cs typeface="Tahoma" panose="020B0604030504040204" pitchFamily="34" charset="0"/>
              </a:rPr>
              <a:t>    ADD argument "--rules_config" (Path to rules_config.json, Required)</a:t>
            </a:r>
          </a:p>
          <a:p>
            <a:pPr>
              <a:spcAft>
                <a:spcPts val="300"/>
              </a:spcAft>
            </a:pPr>
            <a:r>
              <a:rPr lang="en-US" sz="1000" dirty="0">
                <a:ea typeface="Tahoma" panose="020B0604030504040204" pitchFamily="34" charset="0"/>
                <a:cs typeface="Tahoma" panose="020B0604030504040204" pitchFamily="34" charset="0"/>
              </a:rPr>
              <a:t>    # Define optional arguments</a:t>
            </a:r>
          </a:p>
          <a:p>
            <a:pPr>
              <a:spcAft>
                <a:spcPts val="300"/>
              </a:spcAft>
            </a:pPr>
            <a:r>
              <a:rPr lang="en-US" sz="1000" dirty="0">
                <a:ea typeface="Tahoma" panose="020B0604030504040204" pitchFamily="34" charset="0"/>
                <a:cs typeface="Tahoma" panose="020B0604030504040204" pitchFamily="34" charset="0"/>
              </a:rPr>
              <a:t>    ADD argument "--output" (Output file path, Default: "discrepancy_report.csv")</a:t>
            </a:r>
          </a:p>
          <a:p>
            <a:pPr>
              <a:spcAft>
                <a:spcPts val="300"/>
              </a:spcAft>
            </a:pPr>
            <a:r>
              <a:rPr lang="en-US" sz="1000" dirty="0">
                <a:ea typeface="Tahoma" panose="020B0604030504040204" pitchFamily="34" charset="0"/>
                <a:cs typeface="Tahoma" panose="020B0604030504040204" pitchFamily="34" charset="0"/>
              </a:rPr>
              <a:t>    ADD argument "--file_type" (Choices: ["Excel", "CSV", "txt"], Default: "Excel")</a:t>
            </a:r>
          </a:p>
          <a:p>
            <a:pPr>
              <a:spcAft>
                <a:spcPts val="300"/>
              </a:spcAft>
            </a:pPr>
            <a:r>
              <a:rPr lang="en-US" sz="1000" dirty="0">
                <a:ea typeface="Tahoma" panose="020B0604030504040204" pitchFamily="34" charset="0"/>
                <a:cs typeface="Tahoma" panose="020B0604030504040204" pitchFamily="34" charset="0"/>
              </a:rPr>
              <a:t>    ADD argument "--format" (Choices: ["csv", "json", "excel"], Default: "csv")</a:t>
            </a:r>
          </a:p>
          <a:p>
            <a:pPr>
              <a:spcAft>
                <a:spcPts val="300"/>
              </a:spcAft>
            </a:pPr>
            <a:r>
              <a:rPr lang="en-US" sz="1000" dirty="0">
                <a:ea typeface="Tahoma" panose="020B0604030504040204" pitchFamily="34" charset="0"/>
                <a:cs typeface="Tahoma" panose="020B0604030504040204" pitchFamily="34" charset="0"/>
              </a:rPr>
              <a:t>    # Parse command-line arguments</a:t>
            </a:r>
          </a:p>
          <a:p>
            <a:pPr>
              <a:spcAft>
                <a:spcPts val="300"/>
              </a:spcAft>
            </a:pPr>
            <a:r>
              <a:rPr lang="en-US" sz="1000" dirty="0">
                <a:ea typeface="Tahoma" panose="020B0604030504040204" pitchFamily="34" charset="0"/>
                <a:cs typeface="Tahoma" panose="020B0604030504040204" pitchFamily="34" charset="0"/>
              </a:rPr>
              <a:t>    args = PARSE command-line inputs</a:t>
            </a:r>
          </a:p>
          <a:p>
            <a:pPr>
              <a:spcAft>
                <a:spcPts val="300"/>
              </a:spcAft>
            </a:pPr>
            <a:r>
              <a:rPr lang="en-US" sz="1000" dirty="0">
                <a:ea typeface="Tahoma" panose="020B0604030504040204" pitchFamily="34" charset="0"/>
                <a:cs typeface="Tahoma" panose="020B0604030504040204" pitchFamily="34" charset="0"/>
              </a:rPr>
              <a:t>    # Convert paths to absolute paths</a:t>
            </a:r>
          </a:p>
          <a:p>
            <a:pPr>
              <a:spcAft>
                <a:spcPts val="300"/>
              </a:spcAft>
            </a:pPr>
            <a:r>
              <a:rPr lang="en-US" sz="1000" dirty="0">
                <a:ea typeface="Tahoma" panose="020B0604030504040204" pitchFamily="34" charset="0"/>
                <a:cs typeface="Tahoma" panose="020B0604030504040204" pitchFamily="34" charset="0"/>
              </a:rPr>
              <a:t>    SET baseline_path = get_absolute_path(args.baseline)</a:t>
            </a:r>
          </a:p>
          <a:p>
            <a:pPr>
              <a:spcAft>
                <a:spcPts val="300"/>
              </a:spcAft>
            </a:pPr>
            <a:r>
              <a:rPr lang="en-US" sz="1000" dirty="0">
                <a:ea typeface="Tahoma" panose="020B0604030504040204" pitchFamily="34" charset="0"/>
                <a:cs typeface="Tahoma" panose="020B0604030504040204" pitchFamily="34" charset="0"/>
              </a:rPr>
              <a:t>    SET candidate_path = get_absolute_path(args.candidate)</a:t>
            </a:r>
          </a:p>
          <a:p>
            <a:pPr>
              <a:spcAft>
                <a:spcPts val="300"/>
              </a:spcAft>
            </a:pPr>
            <a:r>
              <a:rPr lang="en-US" sz="1000" dirty="0">
                <a:ea typeface="Tahoma" panose="020B0604030504040204" pitchFamily="34" charset="0"/>
                <a:cs typeface="Tahoma" panose="020B0604030504040204" pitchFamily="34" charset="0"/>
              </a:rPr>
              <a:t>    SET directory_config_path = get_absolute_path(args.directory_config)</a:t>
            </a:r>
          </a:p>
          <a:p>
            <a:pPr>
              <a:spcAft>
                <a:spcPts val="300"/>
              </a:spcAft>
            </a:pPr>
            <a:r>
              <a:rPr lang="en-US" sz="1000" dirty="0">
                <a:ea typeface="Tahoma" panose="020B0604030504040204" pitchFamily="34" charset="0"/>
                <a:cs typeface="Tahoma" panose="020B0604030504040204" pitchFamily="34" charset="0"/>
              </a:rPr>
              <a:t>    SET job_response_path = get_absolute_path(args.job_response)</a:t>
            </a:r>
          </a:p>
          <a:p>
            <a:pPr>
              <a:spcAft>
                <a:spcPts val="300"/>
              </a:spcAft>
            </a:pPr>
            <a:r>
              <a:rPr lang="en-US" sz="1000" dirty="0">
                <a:ea typeface="Tahoma" panose="020B0604030504040204" pitchFamily="34" charset="0"/>
                <a:cs typeface="Tahoma" panose="020B0604030504040204" pitchFamily="34" charset="0"/>
              </a:rPr>
              <a:t>    SET rules_config_path = get_absolute_path(args.rules_config)</a:t>
            </a:r>
          </a:p>
          <a:p>
            <a:pPr>
              <a:spcAft>
                <a:spcPts val="300"/>
              </a:spcAft>
            </a:pPr>
            <a:r>
              <a:rPr lang="en-US" sz="1000" dirty="0">
                <a:ea typeface="Tahoma" panose="020B0604030504040204" pitchFamily="34" charset="0"/>
                <a:cs typeface="Tahoma" panose="020B0604030504040204" pitchFamily="34" charset="0"/>
              </a:rPr>
              <a:t>    SET output_path = get_absolute_path(args.output)</a:t>
            </a:r>
          </a:p>
          <a:p>
            <a:pPr>
              <a:spcAft>
                <a:spcPts val="300"/>
              </a:spcAft>
            </a:pPr>
            <a:r>
              <a:rPr lang="en-US" sz="1000" dirty="0">
                <a:ea typeface="Tahoma" panose="020B0604030504040204" pitchFamily="34" charset="0"/>
                <a:cs typeface="Tahoma" panose="020B0604030504040204" pitchFamily="34" charset="0"/>
              </a:rPr>
              <a:t>    # Initialize the data processing tool</a:t>
            </a:r>
          </a:p>
          <a:p>
            <a:pPr>
              <a:spcAft>
                <a:spcPts val="300"/>
              </a:spcAft>
            </a:pPr>
            <a:r>
              <a:rPr lang="en-US" sz="1000" dirty="0">
                <a:ea typeface="Tahoma" panose="020B0604030504040204" pitchFamily="34" charset="0"/>
                <a:cs typeface="Tahoma" panose="020B0604030504040204" pitchFamily="34" charset="0"/>
              </a:rPr>
              <a:t>    INITIALIZE tool = DataProcessor(directory_config_path, job_response_path, rules_config_path)</a:t>
            </a:r>
          </a:p>
          <a:p>
            <a:pPr>
              <a:spcAft>
                <a:spcPts val="300"/>
              </a:spcAft>
            </a:pPr>
            <a:r>
              <a:rPr lang="en-US" sz="1000" dirty="0">
                <a:ea typeface="Tahoma" panose="020B0604030504040204" pitchFamily="34" charset="0"/>
                <a:cs typeface="Tahoma" panose="020B0604030504040204" pitchFamily="34" charset="0"/>
              </a:rPr>
              <a:t>    # Run the comparison process</a:t>
            </a:r>
          </a:p>
          <a:p>
            <a:pPr>
              <a:spcAft>
                <a:spcPts val="300"/>
              </a:spcAft>
            </a:pPr>
            <a:r>
              <a:rPr lang="en-US" sz="1000" dirty="0">
                <a:ea typeface="Tahoma" panose="020B0604030504040204" pitchFamily="34" charset="0"/>
                <a:cs typeface="Tahoma" panose="020B0604030504040204" pitchFamily="34" charset="0"/>
              </a:rPr>
              <a:t>    CALL tool.run_comparison(baseline_path, candidate_path, args.file_type) → results</a:t>
            </a:r>
          </a:p>
          <a:p>
            <a:pPr>
              <a:spcAft>
                <a:spcPts val="300"/>
              </a:spcAft>
            </a:pPr>
            <a:r>
              <a:rPr lang="en-US" sz="1000" dirty="0">
                <a:ea typeface="Tahoma" panose="020B0604030504040204" pitchFamily="34" charset="0"/>
                <a:cs typeface="Tahoma" panose="020B0604030504040204" pitchFamily="34" charset="0"/>
              </a:rPr>
              <a:t>    # Save the results in the desired format</a:t>
            </a:r>
          </a:p>
          <a:p>
            <a:pPr>
              <a:spcAft>
                <a:spcPts val="300"/>
              </a:spcAft>
            </a:pPr>
            <a:r>
              <a:rPr lang="en-US" sz="1000" dirty="0">
                <a:ea typeface="Tahoma" panose="020B0604030504040204" pitchFamily="34" charset="0"/>
                <a:cs typeface="Tahoma" panose="020B0604030504040204" pitchFamily="34" charset="0"/>
              </a:rPr>
              <a:t>    CALL tool.save_results(results, output_path, args.format)</a:t>
            </a:r>
          </a:p>
          <a:p>
            <a:pPr>
              <a:spcAft>
                <a:spcPts val="300"/>
              </a:spcAft>
            </a:pPr>
            <a:r>
              <a:rPr lang="en-US" sz="1000" dirty="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4388EA7B-6704-A29F-49AC-B65CC829C559}"/>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CLI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EC9446D3-7249-DAF4-F082-31452F16CDD6}"/>
              </a:ext>
            </a:extLst>
          </p:cNvPr>
          <p:cNvSpPr txBox="1"/>
          <p:nvPr/>
        </p:nvSpPr>
        <p:spPr>
          <a:xfrm>
            <a:off x="6549644" y="774096"/>
            <a:ext cx="4913376" cy="5816977"/>
          </a:xfrm>
          <a:prstGeom prst="rect">
            <a:avLst/>
          </a:prstGeom>
          <a:solidFill>
            <a:schemeClr val="bg1">
              <a:lumMod val="95000"/>
            </a:schemeClr>
          </a:solidFill>
        </p:spPr>
        <p:txBody>
          <a:bodyPr wrap="square">
            <a:noAutofit/>
          </a:bodyPr>
          <a:lstStyle/>
          <a:p>
            <a:pPr>
              <a:spcAft>
                <a:spcPts val="200"/>
              </a:spcAft>
            </a:pPr>
            <a:r>
              <a:rPr lang="en-US" sz="700" dirty="0">
                <a:ea typeface="Tahoma" panose="020B0604030504040204" pitchFamily="34" charset="0"/>
                <a:cs typeface="Tahoma" panose="020B0604030504040204" pitchFamily="34" charset="0"/>
              </a:rPr>
              <a:t>@POST("/compare/")</a:t>
            </a:r>
          </a:p>
          <a:p>
            <a:pPr>
              <a:spcAft>
                <a:spcPts val="200"/>
              </a:spcAft>
            </a:pPr>
            <a:r>
              <a:rPr lang="en-US" sz="700" dirty="0">
                <a:ea typeface="Tahoma" panose="020B0604030504040204" pitchFamily="34" charset="0"/>
                <a:cs typeface="Tahoma" panose="020B0604030504040204" pitchFamily="34" charset="0"/>
              </a:rPr>
              <a:t>ASYNC FUNCTION compare_files(baseline_file, candidate_file, directory_config, job_response, rules_config, file_type, output_format):</a:t>
            </a:r>
          </a:p>
          <a:p>
            <a:pPr>
              <a:spcAft>
                <a:spcPts val="200"/>
              </a:spcAft>
            </a:pPr>
            <a:r>
              <a:rPr lang="en-US" sz="700" dirty="0">
                <a:ea typeface="Tahoma" panose="020B0604030504040204" pitchFamily="34" charset="0"/>
                <a:cs typeface="Tahoma" panose="020B0604030504040204" pitchFamily="34" charset="0"/>
              </a:rPr>
              <a:t>    INITIALIZE temp_files list to track temporary files</a:t>
            </a:r>
          </a:p>
          <a:p>
            <a:pPr>
              <a:spcAft>
                <a:spcPts val="200"/>
              </a:spcAft>
            </a:pPr>
            <a:r>
              <a:rPr lang="en-US" sz="700" dirty="0">
                <a:ea typeface="Tahoma" panose="020B0604030504040204" pitchFamily="34" charset="0"/>
                <a:cs typeface="Tahoma" panose="020B0604030504040204" pitchFamily="34" charset="0"/>
              </a:rPr>
              <a:t>    TRY:</a:t>
            </a:r>
          </a:p>
          <a:p>
            <a:pPr>
              <a:spcAft>
                <a:spcPts val="200"/>
              </a:spcAft>
            </a:pPr>
            <a:r>
              <a:rPr lang="en-US" sz="700" dirty="0">
                <a:ea typeface="Tahoma" panose="020B0604030504040204" pitchFamily="34" charset="0"/>
                <a:cs typeface="Tahoma" panose="020B0604030504040204" pitchFamily="34" charset="0"/>
              </a:rPr>
              <a:t>        # Save uploaded files as temporary files</a:t>
            </a:r>
          </a:p>
          <a:p>
            <a:pPr>
              <a:spcAft>
                <a:spcPts val="200"/>
              </a:spcAft>
            </a:pPr>
            <a:r>
              <a:rPr lang="en-US" sz="700" dirty="0">
                <a:ea typeface="Tahoma" panose="020B0604030504040204" pitchFamily="34" charset="0"/>
                <a:cs typeface="Tahoma" panose="020B0604030504040204" pitchFamily="34" charset="0"/>
              </a:rPr>
              <a:t>        FOR each uploaded file:</a:t>
            </a:r>
          </a:p>
          <a:p>
            <a:pPr>
              <a:spcAft>
                <a:spcPts val="200"/>
              </a:spcAft>
            </a:pPr>
            <a:r>
              <a:rPr lang="en-US" sz="700" dirty="0">
                <a:ea typeface="Tahoma" panose="020B0604030504040204" pitchFamily="34" charset="0"/>
                <a:cs typeface="Tahoma" panose="020B0604030504040204" pitchFamily="34" charset="0"/>
              </a:rPr>
              <a:t>            CREATE temporary file with appropriate suffix</a:t>
            </a:r>
          </a:p>
          <a:p>
            <a:pPr>
              <a:spcAft>
                <a:spcPts val="200"/>
              </a:spcAft>
            </a:pPr>
            <a:r>
              <a:rPr lang="en-US" sz="700" dirty="0">
                <a:ea typeface="Tahoma" panose="020B0604030504040204" pitchFamily="34" charset="0"/>
                <a:cs typeface="Tahoma" panose="020B0604030504040204" pitchFamily="34" charset="0"/>
              </a:rPr>
              <a:t>            WRITE file content to temporary file</a:t>
            </a:r>
          </a:p>
          <a:p>
            <a:pPr>
              <a:spcAft>
                <a:spcPts val="200"/>
              </a:spcAft>
            </a:pPr>
            <a:r>
              <a:rPr lang="en-US" sz="700" dirty="0">
                <a:ea typeface="Tahoma" panose="020B0604030504040204" pitchFamily="34" charset="0"/>
                <a:cs typeface="Tahoma" panose="020B0604030504040204" pitchFamily="34" charset="0"/>
              </a:rPr>
              <a:t>            STORE file path in temp_files list</a:t>
            </a:r>
          </a:p>
          <a:p>
            <a:pPr>
              <a:spcAft>
                <a:spcPts val="200"/>
              </a:spcAft>
            </a:pPr>
            <a:r>
              <a:rPr lang="en-US" sz="700" dirty="0">
                <a:ea typeface="Tahoma" panose="020B0604030504040204" pitchFamily="34" charset="0"/>
                <a:cs typeface="Tahoma" panose="020B0604030504040204" pitchFamily="34" charset="0"/>
              </a:rPr>
              <a:t>        # Initialize DataProcessor with config files</a:t>
            </a:r>
          </a:p>
          <a:p>
            <a:pPr>
              <a:spcAft>
                <a:spcPts val="200"/>
              </a:spcAft>
            </a:pPr>
            <a:r>
              <a:rPr lang="en-US" sz="700" dirty="0">
                <a:ea typeface="Tahoma" panose="020B0604030504040204" pitchFamily="34" charset="0"/>
                <a:cs typeface="Tahoma" panose="020B0604030504040204" pitchFamily="34" charset="0"/>
              </a:rPr>
              <a:t>        INITIALIZE tool = DataProcessor(directory_path, job_path, rules_path)</a:t>
            </a:r>
          </a:p>
          <a:p>
            <a:pPr>
              <a:spcAft>
                <a:spcPts val="200"/>
              </a:spcAft>
            </a:pPr>
            <a:r>
              <a:rPr lang="en-US" sz="700" dirty="0">
                <a:ea typeface="Tahoma" panose="020B0604030504040204" pitchFamily="34" charset="0"/>
                <a:cs typeface="Tahoma" panose="020B0604030504040204" pitchFamily="34" charset="0"/>
              </a:rPr>
              <a:t>        # Read baseline and candidate files based on file_type</a:t>
            </a:r>
          </a:p>
          <a:p>
            <a:pPr>
              <a:spcAft>
                <a:spcPts val="200"/>
              </a:spcAft>
            </a:pPr>
            <a:r>
              <a:rPr lang="en-US" sz="700" dirty="0">
                <a:ea typeface="Tahoma" panose="020B0604030504040204" pitchFamily="34" charset="0"/>
                <a:cs typeface="Tahoma" panose="020B0604030504040204" pitchFamily="34" charset="0"/>
              </a:rPr>
              <a:t>        CONVERT file_type to lowercase</a:t>
            </a:r>
          </a:p>
          <a:p>
            <a:pPr>
              <a:spcAft>
                <a:spcPts val="200"/>
              </a:spcAft>
            </a:pPr>
            <a:r>
              <a:rPr lang="en-US" sz="700" dirty="0">
                <a:ea typeface="Tahoma" panose="020B0604030504040204" pitchFamily="34" charset="0"/>
                <a:cs typeface="Tahoma" panose="020B0604030504040204" pitchFamily="34" charset="0"/>
              </a:rPr>
              <a:t>        IF file_type is "excel":</a:t>
            </a:r>
          </a:p>
          <a:p>
            <a:pPr>
              <a:spcAft>
                <a:spcPts val="200"/>
              </a:spcAft>
            </a:pPr>
            <a:r>
              <a:rPr lang="en-US" sz="700" dirty="0">
                <a:ea typeface="Tahoma" panose="020B0604030504040204" pitchFamily="34" charset="0"/>
                <a:cs typeface="Tahoma" panose="020B0604030504040204" pitchFamily="34" charset="0"/>
              </a:rPr>
              <a:t>            READ baseline and candidate as Excel files</a:t>
            </a:r>
          </a:p>
          <a:p>
            <a:pPr>
              <a:spcAft>
                <a:spcPts val="200"/>
              </a:spcAft>
            </a:pPr>
            <a:r>
              <a:rPr lang="en-US" sz="700" dirty="0">
                <a:ea typeface="Tahoma" panose="020B0604030504040204" pitchFamily="34" charset="0"/>
                <a:cs typeface="Tahoma" panose="020B0604030504040204" pitchFamily="34" charset="0"/>
              </a:rPr>
              <a:t>        ELSE IF file_type is "csv":</a:t>
            </a:r>
          </a:p>
          <a:p>
            <a:pPr>
              <a:spcAft>
                <a:spcPts val="200"/>
              </a:spcAft>
            </a:pPr>
            <a:r>
              <a:rPr lang="en-US" sz="700" dirty="0">
                <a:ea typeface="Tahoma" panose="020B0604030504040204" pitchFamily="34" charset="0"/>
                <a:cs typeface="Tahoma" panose="020B0604030504040204" pitchFamily="34" charset="0"/>
              </a:rPr>
              <a:t>            READ baseline and candidate as CSV files</a:t>
            </a:r>
          </a:p>
          <a:p>
            <a:pPr>
              <a:spcAft>
                <a:spcPts val="200"/>
              </a:spcAft>
            </a:pPr>
            <a:r>
              <a:rPr lang="en-US" sz="700" dirty="0">
                <a:ea typeface="Tahoma" panose="020B0604030504040204" pitchFamily="34" charset="0"/>
                <a:cs typeface="Tahoma" panose="020B0604030504040204" pitchFamily="34" charset="0"/>
              </a:rPr>
              <a:t>        ELSE IF file_type is "txt":</a:t>
            </a:r>
          </a:p>
          <a:p>
            <a:pPr>
              <a:spcAft>
                <a:spcPts val="200"/>
              </a:spcAft>
            </a:pPr>
            <a:r>
              <a:rPr lang="en-US" sz="700" dirty="0">
                <a:ea typeface="Tahoma" panose="020B0604030504040204" pitchFamily="34" charset="0"/>
                <a:cs typeface="Tahoma" panose="020B0604030504040204" pitchFamily="34" charset="0"/>
              </a:rPr>
              <a:t>            CALL read_dd_file() to process structured text files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RAISE HTTPException for unsupported file type</a:t>
            </a:r>
          </a:p>
          <a:p>
            <a:pPr>
              <a:spcAft>
                <a:spcPts val="200"/>
              </a:spcAft>
            </a:pPr>
            <a:r>
              <a:rPr lang="en-US" sz="700" dirty="0">
                <a:ea typeface="Tahoma" panose="020B0604030504040204" pitchFamily="34" charset="0"/>
                <a:cs typeface="Tahoma" panose="020B0604030504040204" pitchFamily="34" charset="0"/>
              </a:rPr>
              <a:t>        # Run data comparison</a:t>
            </a:r>
          </a:p>
          <a:p>
            <a:pPr>
              <a:spcAft>
                <a:spcPts val="200"/>
              </a:spcAft>
            </a:pPr>
            <a:r>
              <a:rPr lang="en-US" sz="700" dirty="0">
                <a:ea typeface="Tahoma" panose="020B0604030504040204" pitchFamily="34" charset="0"/>
                <a:cs typeface="Tahoma" panose="020B0604030504040204" pitchFamily="34" charset="0"/>
              </a:rPr>
              <a:t>        CALL tool.compare_files(df_baseline, df_candidate, file_type) → results</a:t>
            </a:r>
          </a:p>
          <a:p>
            <a:pPr>
              <a:spcAft>
                <a:spcPts val="200"/>
              </a:spcAft>
            </a:pPr>
            <a:r>
              <a:rPr lang="en-US" sz="700" dirty="0">
                <a:ea typeface="Tahoma" panose="020B0604030504040204" pitchFamily="34" charset="0"/>
                <a:cs typeface="Tahoma" panose="020B0604030504040204" pitchFamily="34" charset="0"/>
              </a:rPr>
              <a:t>        #  Save results in requested output format</a:t>
            </a:r>
          </a:p>
          <a:p>
            <a:pPr>
              <a:spcAft>
                <a:spcPts val="200"/>
              </a:spcAft>
            </a:pPr>
            <a:r>
              <a:rPr lang="en-US" sz="700" dirty="0">
                <a:ea typeface="Tahoma" panose="020B0604030504040204" pitchFamily="34" charset="0"/>
                <a:cs typeface="Tahoma" panose="020B0604030504040204" pitchFamily="34" charset="0"/>
              </a:rPr>
              <a:t>        SET output_filename = "comparison_output.&lt;output_format&gt;"</a:t>
            </a:r>
          </a:p>
          <a:p>
            <a:pPr>
              <a:spcAft>
                <a:spcPts val="200"/>
              </a:spcAft>
            </a:pPr>
            <a:r>
              <a:rPr lang="en-US" sz="700" dirty="0">
                <a:ea typeface="Tahoma" panose="020B0604030504040204" pitchFamily="34" charset="0"/>
                <a:cs typeface="Tahoma" panose="020B0604030504040204" pitchFamily="34" charset="0"/>
              </a:rPr>
              <a:t>        SET output_filepath = OUTPUT_DIR + output_filename</a:t>
            </a:r>
          </a:p>
          <a:p>
            <a:pPr>
              <a:spcAft>
                <a:spcPts val="200"/>
              </a:spcAft>
            </a:pPr>
            <a:r>
              <a:rPr lang="en-US" sz="700" dirty="0">
                <a:ea typeface="Tahoma" panose="020B0604030504040204" pitchFamily="34" charset="0"/>
                <a:cs typeface="Tahoma" panose="020B0604030504040204" pitchFamily="34" charset="0"/>
              </a:rPr>
              <a:t>        CONVERT results based on output_format:</a:t>
            </a:r>
          </a:p>
          <a:p>
            <a:pPr>
              <a:spcAft>
                <a:spcPts val="200"/>
              </a:spcAft>
            </a:pPr>
            <a:r>
              <a:rPr lang="en-US" sz="700" dirty="0">
                <a:ea typeface="Tahoma" panose="020B0604030504040204" pitchFamily="34" charset="0"/>
                <a:cs typeface="Tahoma" panose="020B0604030504040204" pitchFamily="34" charset="0"/>
              </a:rPr>
              <a:t>            IF "csv": SAVE as CSV</a:t>
            </a:r>
          </a:p>
          <a:p>
            <a:pPr>
              <a:spcAft>
                <a:spcPts val="200"/>
              </a:spcAft>
            </a:pPr>
            <a:r>
              <a:rPr lang="en-US" sz="700" dirty="0">
                <a:ea typeface="Tahoma" panose="020B0604030504040204" pitchFamily="34" charset="0"/>
                <a:cs typeface="Tahoma" panose="020B0604030504040204" pitchFamily="34" charset="0"/>
              </a:rPr>
              <a:t>            IF "json": SAVE as JSON</a:t>
            </a:r>
          </a:p>
          <a:p>
            <a:pPr>
              <a:spcAft>
                <a:spcPts val="200"/>
              </a:spcAft>
            </a:pPr>
            <a:r>
              <a:rPr lang="en-US" sz="700" dirty="0">
                <a:ea typeface="Tahoma" panose="020B0604030504040204" pitchFamily="34" charset="0"/>
                <a:cs typeface="Tahoma" panose="020B0604030504040204" pitchFamily="34" charset="0"/>
              </a:rPr>
              <a:t>            IF "xlsx": SAVE as Excel</a:t>
            </a:r>
          </a:p>
          <a:p>
            <a:pPr>
              <a:spcAft>
                <a:spcPts val="200"/>
              </a:spcAft>
            </a:pPr>
            <a:r>
              <a:rPr lang="en-US" sz="700" dirty="0">
                <a:ea typeface="Tahoma" panose="020B0604030504040204" pitchFamily="34" charset="0"/>
                <a:cs typeface="Tahoma" panose="020B0604030504040204" pitchFamily="34" charset="0"/>
              </a:rPr>
              <a:t>            IF "txt": SAVE as tab-separated text</a:t>
            </a:r>
          </a:p>
          <a:p>
            <a:pPr>
              <a:spcAft>
                <a:spcPts val="200"/>
              </a:spcAft>
            </a:pPr>
            <a:r>
              <a:rPr lang="en-US" sz="700" dirty="0">
                <a:ea typeface="Tahoma" panose="020B0604030504040204" pitchFamily="34" charset="0"/>
                <a:cs typeface="Tahoma" panose="020B0604030504040204" pitchFamily="34" charset="0"/>
              </a:rPr>
              <a:t>            ELSE: RAISE HTTPException for unsupported format</a:t>
            </a:r>
          </a:p>
          <a:p>
            <a:pPr>
              <a:spcAft>
                <a:spcPts val="200"/>
              </a:spcAft>
            </a:pPr>
            <a:r>
              <a:rPr lang="en-US" sz="700" dirty="0">
                <a:ea typeface="Tahoma" panose="020B0604030504040204" pitchFamily="34" charset="0"/>
                <a:cs typeface="Tahoma" panose="020B0604030504040204" pitchFamily="34" charset="0"/>
              </a:rPr>
              <a:t>        # Cleanup temporary files (except output file)</a:t>
            </a:r>
          </a:p>
          <a:p>
            <a:pPr>
              <a:spcAft>
                <a:spcPts val="200"/>
              </a:spcAft>
            </a:pPr>
            <a:r>
              <a:rPr lang="en-US" sz="700" dirty="0">
                <a:ea typeface="Tahoma" panose="020B0604030504040204" pitchFamily="34" charset="0"/>
                <a:cs typeface="Tahoma" panose="020B0604030504040204" pitchFamily="34" charset="0"/>
              </a:rPr>
              <a:t>        FOR each file_path in temp_files:</a:t>
            </a:r>
          </a:p>
          <a:p>
            <a:pPr>
              <a:spcAft>
                <a:spcPts val="200"/>
              </a:spcAft>
            </a:pPr>
            <a:r>
              <a:rPr lang="en-US" sz="700" dirty="0">
                <a:ea typeface="Tahoma" panose="020B0604030504040204" pitchFamily="34" charset="0"/>
                <a:cs typeface="Tahoma" panose="020B0604030504040204" pitchFamily="34" charset="0"/>
              </a:rPr>
              <a:t>            DELETE file_path safely</a:t>
            </a:r>
          </a:p>
          <a:p>
            <a:pPr>
              <a:spcAft>
                <a:spcPts val="200"/>
              </a:spcAft>
            </a:pPr>
            <a:r>
              <a:rPr lang="en-US" sz="700" dirty="0">
                <a:ea typeface="Tahoma" panose="020B0604030504040204" pitchFamily="34" charset="0"/>
                <a:cs typeface="Tahoma" panose="020B0604030504040204" pitchFamily="34" charset="0"/>
              </a:rPr>
              <a:t>        # Return JSON response for non-downloadable formats</a:t>
            </a:r>
          </a:p>
          <a:p>
            <a:pPr>
              <a:spcAft>
                <a:spcPts val="200"/>
              </a:spcAft>
            </a:pPr>
            <a:r>
              <a:rPr lang="en-US" sz="700" dirty="0">
                <a:ea typeface="Tahoma" panose="020B0604030504040204" pitchFamily="34" charset="0"/>
                <a:cs typeface="Tahoma" panose="020B0604030504040204" pitchFamily="34" charset="0"/>
              </a:rPr>
              <a:t>        IF output_format is "json":</a:t>
            </a:r>
          </a:p>
          <a:p>
            <a:pPr>
              <a:spcAft>
                <a:spcPts val="200"/>
              </a:spcAft>
            </a:pPr>
            <a:r>
              <a:rPr lang="en-US" sz="700" dirty="0">
                <a:ea typeface="Tahoma" panose="020B0604030504040204" pitchFamily="34" charset="0"/>
                <a:cs typeface="Tahoma" panose="020B0604030504040204" pitchFamily="34" charset="0"/>
              </a:rPr>
              <a:t>            RETURN JSONResponse with comparison results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RETURN JSONResponse with download URL</a:t>
            </a:r>
          </a:p>
          <a:p>
            <a:pPr>
              <a:spcAft>
                <a:spcPts val="200"/>
              </a:spcAft>
            </a:pPr>
            <a:r>
              <a:rPr lang="en-US" sz="700" dirty="0">
                <a:ea typeface="Tahoma" panose="020B0604030504040204" pitchFamily="34" charset="0"/>
                <a:cs typeface="Tahoma" panose="020B0604030504040204" pitchFamily="34" charset="0"/>
              </a:rPr>
              <a:t>    EXCEPT Exception as e:</a:t>
            </a:r>
          </a:p>
          <a:p>
            <a:pPr>
              <a:spcAft>
                <a:spcPts val="200"/>
              </a:spcAft>
            </a:pPr>
            <a:r>
              <a:rPr lang="en-US" sz="700" dirty="0">
                <a:ea typeface="Tahoma" panose="020B0604030504040204" pitchFamily="34" charset="0"/>
                <a:cs typeface="Tahoma" panose="020B0604030504040204" pitchFamily="34" charset="0"/>
              </a:rPr>
              <a:t>        RETURN HTTPException with error details</a:t>
            </a:r>
          </a:p>
          <a:p>
            <a:pPr>
              <a:spcAft>
                <a:spcPts val="200"/>
              </a:spcAft>
            </a:pPr>
            <a:r>
              <a:rPr lang="en-US" sz="700" dirty="0">
                <a:ea typeface="Tahoma" panose="020B0604030504040204" pitchFamily="34" charset="0"/>
                <a:cs typeface="Tahoma" panose="020B0604030504040204" pitchFamily="34" charset="0"/>
              </a:rPr>
              <a:t>END</a:t>
            </a:r>
          </a:p>
        </p:txBody>
      </p:sp>
      <p:sp>
        <p:nvSpPr>
          <p:cNvPr id="3" name="TextBox 2">
            <a:extLst>
              <a:ext uri="{FF2B5EF4-FFF2-40B4-BE49-F238E27FC236}">
                <a16:creationId xmlns:a16="http://schemas.microsoft.com/office/drawing/2014/main" id="{C315B337-6E53-25A4-C322-E95D654B314E}"/>
              </a:ext>
            </a:extLst>
          </p:cNvPr>
          <p:cNvSpPr txBox="1"/>
          <p:nvPr/>
        </p:nvSpPr>
        <p:spPr>
          <a:xfrm>
            <a:off x="65496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API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30246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9100533-fbb6-448d-960c-7a13909f3586">
      <Terms xmlns="http://schemas.microsoft.com/office/infopath/2007/PartnerControls"/>
    </lcf76f155ced4ddcb4097134ff3c332f>
    <TaxCatchAll xmlns="b1706da3-1d30-4fb2-9ff5-7c74014ab50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FAED31D82CBC4488957E342AB015104" ma:contentTypeVersion="14" ma:contentTypeDescription="Create a new document." ma:contentTypeScope="" ma:versionID="48211e33e47b5b8e9088e3d4c10e07e2">
  <xsd:schema xmlns:xsd="http://www.w3.org/2001/XMLSchema" xmlns:xs="http://www.w3.org/2001/XMLSchema" xmlns:p="http://schemas.microsoft.com/office/2006/metadata/properties" xmlns:ns2="a9100533-fbb6-448d-960c-7a13909f3586" xmlns:ns3="b1706da3-1d30-4fb2-9ff5-7c74014ab500" targetNamespace="http://schemas.microsoft.com/office/2006/metadata/properties" ma:root="true" ma:fieldsID="5f22e2965ff242cb10d8232d727c7fb8" ns2:_="" ns3:_="">
    <xsd:import namespace="a9100533-fbb6-448d-960c-7a13909f3586"/>
    <xsd:import namespace="b1706da3-1d30-4fb2-9ff5-7c74014ab50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100533-fbb6-448d-960c-7a13909f35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46db778-bad6-4ab0-ae85-290e76a2077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1706da3-1d30-4fb2-9ff5-7c74014ab50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c2a7a3f-e570-43cf-8571-f9dc7608eb1a}" ma:internalName="TaxCatchAll" ma:showField="CatchAllData" ma:web="b1706da3-1d30-4fb2-9ff5-7c74014ab5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0E8B7E-424D-4E16-80C2-C88424817827}">
  <ds:schemaRefs>
    <ds:schemaRef ds:uri="http://schemas.microsoft.com/office/2006/metadata/properties"/>
    <ds:schemaRef ds:uri="http://schemas.microsoft.com/office/infopath/2007/PartnerControls"/>
    <ds:schemaRef ds:uri="a9100533-fbb6-448d-960c-7a13909f3586"/>
    <ds:schemaRef ds:uri="b1706da3-1d30-4fb2-9ff5-7c74014ab500"/>
  </ds:schemaRefs>
</ds:datastoreItem>
</file>

<file path=customXml/itemProps2.xml><?xml version="1.0" encoding="utf-8"?>
<ds:datastoreItem xmlns:ds="http://schemas.openxmlformats.org/officeDocument/2006/customXml" ds:itemID="{AD04A605-4A90-4E98-9AC6-444570855C86}">
  <ds:schemaRefs>
    <ds:schemaRef ds:uri="http://schemas.microsoft.com/sharepoint/v3/contenttype/forms"/>
  </ds:schemaRefs>
</ds:datastoreItem>
</file>

<file path=customXml/itemProps3.xml><?xml version="1.0" encoding="utf-8"?>
<ds:datastoreItem xmlns:ds="http://schemas.openxmlformats.org/officeDocument/2006/customXml" ds:itemID="{854EB850-33C0-48B6-AAA6-CC8ADD06C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100533-fbb6-448d-960c-7a13909f3586"/>
    <ds:schemaRef ds:uri="b1706da3-1d30-4fb2-9ff5-7c74014ab5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1014</TotalTime>
  <Words>2618</Words>
  <Application>Microsoft Office PowerPoint</Application>
  <PresentationFormat>Widescreen</PresentationFormat>
  <Paragraphs>276</Paragraphs>
  <Slides>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5" baseType="lpstr">
      <vt:lpstr>Aptos</vt:lpstr>
      <vt:lpstr>Aptos Display</vt:lpstr>
      <vt:lpstr>Arial</vt:lpstr>
      <vt:lpstr>Courier New</vt:lpstr>
      <vt:lpstr>Tahoma</vt:lpstr>
      <vt:lpstr>Times New Roman</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Coforge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Achal Joshi</dc:creator>
  <cp:lastModifiedBy>Achal Joshi</cp:lastModifiedBy>
  <cp:revision>70</cp:revision>
  <dcterms:created xsi:type="dcterms:W3CDTF">2025-02-24T08:39:02Z</dcterms:created>
  <dcterms:modified xsi:type="dcterms:W3CDTF">2025-02-25T14:56:44Z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0x010100EFAED31D82CBC4488957E342AB015104</vt:lpwstr>
  </property>
</Properties>
</file>